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9"/>
  </p:notesMasterIdLst>
  <p:handoutMasterIdLst>
    <p:handoutMasterId r:id="rId30"/>
  </p:handoutMasterIdLst>
  <p:sldIdLst>
    <p:sldId id="410" r:id="rId5"/>
    <p:sldId id="383" r:id="rId6"/>
    <p:sldId id="411" r:id="rId7"/>
    <p:sldId id="418" r:id="rId8"/>
    <p:sldId id="431" r:id="rId9"/>
    <p:sldId id="415" r:id="rId10"/>
    <p:sldId id="416" r:id="rId11"/>
    <p:sldId id="417" r:id="rId12"/>
    <p:sldId id="420" r:id="rId13"/>
    <p:sldId id="421" r:id="rId14"/>
    <p:sldId id="422" r:id="rId15"/>
    <p:sldId id="430" r:id="rId16"/>
    <p:sldId id="429" r:id="rId17"/>
    <p:sldId id="428" r:id="rId18"/>
    <p:sldId id="427" r:id="rId19"/>
    <p:sldId id="432" r:id="rId20"/>
    <p:sldId id="433" r:id="rId21"/>
    <p:sldId id="434" r:id="rId22"/>
    <p:sldId id="435" r:id="rId23"/>
    <p:sldId id="436" r:id="rId24"/>
    <p:sldId id="425" r:id="rId25"/>
    <p:sldId id="426" r:id="rId26"/>
    <p:sldId id="424" r:id="rId27"/>
    <p:sldId id="419" r:id="rId28"/>
  </p:sldIdLst>
  <p:sldSz cx="12192000" cy="6858000"/>
  <p:notesSz cx="6858000" cy="9144000"/>
  <p:custShowLst>
    <p:custShow name="Custom Show 1" id="0">
      <p:sldLst>
        <p:sld r:id="rId10"/>
        <p:sld r:id="rId11"/>
        <p:sld r:id="rId12"/>
        <p:sld r:id="rId25"/>
        <p:sld r:id="rId26"/>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solidFill>
                  <a:schemeClr val="bg1"/>
                </a:solidFill>
              </a:rPr>
              <a:t>Onboard Radiologic Examinations</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204745951673533"/>
          <c:y val="0.25854154376320954"/>
          <c:w val="0.66927488193943829"/>
          <c:h val="0.71641291504743998"/>
        </c:manualLayout>
      </c:layout>
      <c:pieChart>
        <c:varyColors val="1"/>
        <c:ser>
          <c:idx val="0"/>
          <c:order val="0"/>
          <c:tx>
            <c:strRef>
              <c:f>Sheet1!$B$1</c:f>
              <c:strCache>
                <c:ptCount val="1"/>
                <c:pt idx="0">
                  <c:v>Sales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F515-B145-9D3B-8F98917B960F}"/>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F515-B145-9D3B-8F98917B960F}"/>
              </c:ext>
            </c:extLst>
          </c:dPt>
          <c:dLbls>
            <c:dLbl>
              <c:idx val="0"/>
              <c:layout>
                <c:manualLayout>
                  <c:x val="-0.20814756027840375"/>
                  <c:y val="0.23683594758086915"/>
                </c:manualLayout>
              </c:layout>
              <c:tx>
                <c:rich>
                  <a:bodyPr/>
                  <a:lstStyle/>
                  <a:p>
                    <a:fld id="{FD5C1E09-62C4-450D-A92E-E8A3D69B2FDC}" type="CATEGORYNAME">
                      <a:rPr lang="en-US">
                        <a:solidFill>
                          <a:schemeClr val="bg1"/>
                        </a:solidFill>
                      </a:rPr>
                      <a:pPr/>
                      <a:t>[CATEGORY NAME]</a:t>
                    </a:fld>
                    <a:r>
                      <a:rPr lang="en-US" baseline="0">
                        <a:solidFill>
                          <a:schemeClr val="bg1"/>
                        </a:solidFill>
                      </a:rPr>
                      <a:t>
</a:t>
                    </a:r>
                    <a:fld id="{C95E7B3A-A979-4E7B-BF20-6DF5BBFF5399}" type="PERCENTAGE">
                      <a:rPr lang="en-US" baseline="0">
                        <a:solidFill>
                          <a:schemeClr val="bg1"/>
                        </a:solidFill>
                      </a:rPr>
                      <a:pPr/>
                      <a:t>[PERCENTAGE]</a:t>
                    </a:fld>
                    <a:endParaRPr lang="en-US" baseline="0">
                      <a:solidFill>
                        <a:schemeClr val="bg1"/>
                      </a:solidFill>
                    </a:endParaRPr>
                  </a:p>
                </c:rich>
              </c:tx>
              <c:dLblPos val="bestFit"/>
              <c:showLegendKey val="0"/>
              <c:showVal val="0"/>
              <c:showCatName val="1"/>
              <c:showSerName val="0"/>
              <c:showPercent val="1"/>
              <c:showBubbleSize val="0"/>
              <c:extLst>
                <c:ext xmlns:c15="http://schemas.microsoft.com/office/drawing/2012/chart" uri="{CE6537A1-D6FC-4f65-9D91-7224C49458BB}">
                  <c15:layout>
                    <c:manualLayout>
                      <c:w val="0.28444310802192857"/>
                      <c:h val="0.20494420619936607"/>
                    </c:manualLayout>
                  </c15:layout>
                  <c15:dlblFieldTable/>
                  <c15:showDataLabelsRange val="0"/>
                </c:ext>
                <c:ext xmlns:c16="http://schemas.microsoft.com/office/drawing/2014/chart" uri="{C3380CC4-5D6E-409C-BE32-E72D297353CC}">
                  <c16:uniqueId val="{00000002-F515-B145-9D3B-8F98917B960F}"/>
                </c:ext>
              </c:extLst>
            </c:dLbl>
            <c:dLbl>
              <c:idx val="1"/>
              <c:layout>
                <c:manualLayout>
                  <c:x val="0.26029305008819742"/>
                  <c:y val="-0.16704662057622519"/>
                </c:manualLayout>
              </c:layout>
              <c:tx>
                <c:rich>
                  <a:bodyPr/>
                  <a:lstStyle/>
                  <a:p>
                    <a:fld id="{5EA5AC31-4AD0-4835-BB4A-23017F44A3A1}" type="CATEGORYNAME">
                      <a:rPr lang="en-US">
                        <a:solidFill>
                          <a:schemeClr val="bg1"/>
                        </a:solidFill>
                      </a:rPr>
                      <a:pPr/>
                      <a:t>[CATEGORY NAME]</a:t>
                    </a:fld>
                    <a:r>
                      <a:rPr lang="en-US" baseline="0"/>
                      <a:t>
</a:t>
                    </a:r>
                    <a:fld id="{8528E060-C392-4E9A-8656-A3B686B79B88}" type="PERCENTAGE">
                      <a:rPr lang="en-US" baseline="0">
                        <a:solidFill>
                          <a:schemeClr val="bg1"/>
                        </a:solidFill>
                      </a:rPr>
                      <a:pPr/>
                      <a:t>[PERCENTAGE]</a:t>
                    </a:fld>
                    <a:endParaRPr lang="en-US" baseline="0"/>
                  </a:p>
                </c:rich>
              </c:tx>
              <c:dLblPos val="bestFit"/>
              <c:showLegendKey val="0"/>
              <c:showVal val="0"/>
              <c:showCatName val="1"/>
              <c:showSerName val="0"/>
              <c:showPercent val="1"/>
              <c:showBubbleSize val="0"/>
              <c:extLst>
                <c:ext xmlns:c15="http://schemas.microsoft.com/office/drawing/2012/chart" uri="{CE6537A1-D6FC-4f65-9D91-7224C49458BB}">
                  <c15:layout>
                    <c:manualLayout>
                      <c:w val="0.23476174571980293"/>
                      <c:h val="0.2049440856179994"/>
                    </c:manualLayout>
                  </c15:layout>
                  <c15:dlblFieldTable/>
                  <c15:showDataLabelsRange val="0"/>
                </c:ext>
                <c:ext xmlns:c16="http://schemas.microsoft.com/office/drawing/2014/chart" uri="{C3380CC4-5D6E-409C-BE32-E72D297353CC}">
                  <c16:uniqueId val="{00000001-F515-B145-9D3B-8F98917B960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Thoracic radiography</c:v>
                </c:pt>
                <c:pt idx="1">
                  <c:v>Skeletal radiography</c:v>
                </c:pt>
              </c:strCache>
            </c:strRef>
          </c:cat>
          <c:val>
            <c:numRef>
              <c:f>Sheet1!$B$2:$B$3</c:f>
              <c:numCache>
                <c:formatCode>0%</c:formatCode>
                <c:ptCount val="2"/>
                <c:pt idx="0">
                  <c:v>0.25</c:v>
                </c:pt>
                <c:pt idx="1">
                  <c:v>0.75</c:v>
                </c:pt>
              </c:numCache>
            </c:numRef>
          </c:val>
          <c:extLst>
            <c:ext xmlns:c16="http://schemas.microsoft.com/office/drawing/2014/chart" uri="{C3380CC4-5D6E-409C-BE32-E72D297353CC}">
              <c16:uniqueId val="{00000000-F515-B145-9D3B-8F98917B960F}"/>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9/26/2026</a:t>
            </a:fld>
            <a:endParaRPr lang="en-US"/>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indent="-283210"/>
            <a:r>
              <a:rPr lang="en-US"/>
              <a:t>A standalone emergency room has been combating the national radiologist shortages. This problem has led patients to voice their frustrations online about long wait times and slow services. Patients are not the only ones to voice their dissatisfaction. Radiologists at the emergency room have had an all-time high of burnout and stress. The administration at the emergency room has done their research and have decided to incorporate a solution that addresses the triple and quadruple aims of the healthcare approach. They concluded on implementing teleradiology, a remote service that can process images taken at the facility. This plan aims to address Population Health,</a:t>
            </a:r>
            <a:r>
              <a:rPr lang="en-US">
                <a:ea typeface="+mn-lt"/>
                <a:cs typeface="+mn-lt"/>
              </a:rPr>
              <a:t> Patient Experience of Care, </a:t>
            </a:r>
            <a:r>
              <a:rPr lang="en-US"/>
              <a:t>Health Care Provider Experience , and Employee Experience and Health</a:t>
            </a:r>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a:p>
        </p:txBody>
      </p:sp>
    </p:spTree>
    <p:extLst>
      <p:ext uri="{BB962C8B-B14F-4D97-AF65-F5344CB8AC3E}">
        <p14:creationId xmlns:p14="http://schemas.microsoft.com/office/powerpoint/2010/main" val="3399609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looking at the triple and quadruple aims, we first need to see which aspects we are focusing to correct and solve. In regard to triple aim, the administrative team plans to use teleradiology to improve population health and patient experience of care. This would be done by teleradiology providing fast imaging processing. This faster imaging will increase patient of care by allowing the emergency room to help more patients but also validify diagnosis, due to multiple health professionals working on the imaging and processing. After tackling the triple aim, we go into the quadruple aim, planning on improving health care provider experience and employee experience and health. Because teleradiology can connect physicians to remote radiologists, different perspectives can give insight on a certain diagnosis, for example, a teleradiologist able to spot a symptom that is common in their area. Moreover, employee experience and health would be </a:t>
            </a:r>
            <a:r>
              <a:rPr lang="en-US" err="1"/>
              <a:t>positivelty</a:t>
            </a:r>
            <a:r>
              <a:rPr lang="en-US"/>
              <a:t> effected, reliving stress for radiologists working on-site, reducing human error. </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a:p>
        </p:txBody>
      </p:sp>
    </p:spTree>
    <p:extLst>
      <p:ext uri="{BB962C8B-B14F-4D97-AF65-F5344CB8AC3E}">
        <p14:creationId xmlns:p14="http://schemas.microsoft.com/office/powerpoint/2010/main" val="2723304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b="0" i="0" u="none" strike="noStrike">
                <a:solidFill>
                  <a:srgbClr val="000000"/>
                </a:solidFill>
                <a:effectLst/>
                <a:latin typeface="Arial"/>
                <a:cs typeface="Arial"/>
              </a:rPr>
              <a:t>There have been several cases and studies where the effects of teleradiology implementation have been observed. In the first study we will be looking at, a cruise ship was involved in a pilot study, where the ship was equipped with a mobile radiography unit to introduce a 24 hour teleradiology service. In addition to the mobile unit, it also featured digital storage imaging plates and through the use of a virtual private network, or VPN, radiographs were securely transferred. With this service they reported a turnaround time of about 30 minutes which showed that timely care is achievable with this service. Out of 47 total radiography transmitted images, all of them were transferred with no delay, which is important to note because the data infrastructure was stable enough to support this service. Based on the American College of Radiology Task Force recommendations for Teleradiology Practice ​a high-standard interpretation of radiographs was developed in accordance.</a:t>
            </a:r>
            <a:br>
              <a:rPr lang="en-US">
                <a:cs typeface="+mn-lt"/>
              </a:rPr>
            </a:br>
            <a:endParaRPr lang="en-US" b="0" i="0" u="none" strike="noStrike">
              <a:solidFill>
                <a:srgbClr val="000000"/>
              </a:solidFill>
              <a:effectLst/>
              <a:latin typeface="Calibri"/>
              <a:ea typeface="Calibri"/>
              <a:cs typeface="Calibri"/>
            </a:endParaRPr>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a:p>
        </p:txBody>
      </p:sp>
    </p:spTree>
    <p:extLst>
      <p:ext uri="{BB962C8B-B14F-4D97-AF65-F5344CB8AC3E}">
        <p14:creationId xmlns:p14="http://schemas.microsoft.com/office/powerpoint/2010/main" val="1020235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a:solidFill>
                  <a:srgbClr val="000000"/>
                </a:solidFill>
                <a:effectLst/>
                <a:latin typeface="Arial"/>
                <a:cs typeface="Arial"/>
              </a:rPr>
              <a:t>The second study we will be looking at is the after hours teleradiology that Kaiser Permanente Southern California</a:t>
            </a:r>
            <a:r>
              <a:rPr lang="en-US" sz="1800">
                <a:solidFill>
                  <a:srgbClr val="000000"/>
                </a:solidFill>
                <a:latin typeface="Arial"/>
                <a:cs typeface="Arial"/>
              </a:rPr>
              <a:t>, or</a:t>
            </a:r>
            <a:r>
              <a:rPr lang="en-US" sz="1800" b="0" i="0" u="none" strike="noStrike">
                <a:solidFill>
                  <a:srgbClr val="000000"/>
                </a:solidFill>
                <a:effectLst/>
                <a:latin typeface="Arial"/>
                <a:cs typeface="Arial"/>
              </a:rPr>
              <a:t> KPSC,</a:t>
            </a:r>
            <a:r>
              <a:rPr lang="en-US" sz="1800">
                <a:solidFill>
                  <a:srgbClr val="000000"/>
                </a:solidFill>
                <a:latin typeface="Arial"/>
                <a:cs typeface="Arial"/>
              </a:rPr>
              <a:t> </a:t>
            </a:r>
            <a:r>
              <a:rPr lang="en-US" sz="1800" b="0" i="0" u="none" strike="noStrike">
                <a:solidFill>
                  <a:srgbClr val="000000"/>
                </a:solidFill>
                <a:effectLst/>
                <a:latin typeface="Arial"/>
                <a:cs typeface="Arial"/>
              </a:rPr>
              <a:t> implemented in their hospitals in order to support their staff. A feature of this service is that it uses a web application in order to manage the workflow that comes along with teleradiology exams and to provide reports to referring clinicians. This service also includes a quality monitoring system that tracks any significant discrepancies between the </a:t>
            </a:r>
            <a:r>
              <a:rPr lang="en-US" sz="1800" b="0" i="0" u="none" strike="noStrike" err="1">
                <a:solidFill>
                  <a:srgbClr val="000000"/>
                </a:solidFill>
                <a:effectLst/>
                <a:latin typeface="Arial"/>
                <a:cs typeface="Arial"/>
              </a:rPr>
              <a:t>teleradiologists</a:t>
            </a:r>
            <a:r>
              <a:rPr lang="en-US" sz="1800" b="0" i="0" u="none" strike="noStrike">
                <a:solidFill>
                  <a:srgbClr val="000000"/>
                </a:solidFill>
                <a:effectLst/>
                <a:latin typeface="Arial"/>
                <a:cs typeface="Arial"/>
              </a:rPr>
              <a:t>’ findings and the final reports of a medical center’s staff radiologist. Clinicians who have utilized the KPSC teleradiology service have been reported to be highly satisfied with responsiveness of the technology, and the median time between the performance of an exam and availability of a wet read has decreased to 19 minutes. Along with an improved timeliness, the KPSC teleradiology service has significantly decreased the delays in providing after-hours interpretation of CT, MRI, and ultrasound exams, as well as a reduction in “callbacks” resulting in an improved quality of life for the radiologists.</a:t>
            </a:r>
            <a:endParaRPr lang="en-US">
              <a:effectLst/>
              <a:latin typeface="Arial"/>
              <a:cs typeface="Arial"/>
            </a:endParaRPr>
          </a:p>
          <a:p>
            <a:br>
              <a:rPr lang="en-US">
                <a:cs typeface="+mn-lt"/>
              </a:rPr>
            </a:br>
            <a:endParaRPr lang="en-US" b="0" i="0" u="none" strike="noStrike">
              <a:solidFill>
                <a:srgbClr val="000000"/>
              </a:solidFill>
              <a:effectLst/>
              <a:latin typeface="HCo Gotham"/>
            </a:endParaRPr>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a:p>
        </p:txBody>
      </p:sp>
    </p:spTree>
    <p:extLst>
      <p:ext uri="{BB962C8B-B14F-4D97-AF65-F5344CB8AC3E}">
        <p14:creationId xmlns:p14="http://schemas.microsoft.com/office/powerpoint/2010/main" val="1976205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a:solidFill>
                  <a:srgbClr val="000000"/>
                </a:solidFill>
                <a:effectLst/>
                <a:latin typeface="Arial" panose="020B0604020202020204" pitchFamily="34" charset="0"/>
              </a:rPr>
              <a:t>In this third case, the goal of this project was to evaluate the overall use and effectiveness of the teleradiology system that was linked to the Department of Radiology at the University of Arizona with a rural hospital 100 miles away. The rural hospital installed a IBM compatible capture and send workstation with a 50-micron spots size digitizer. 95 percent of the imaging sessions were judged to be successful overall in terms of speed and diagnostic accuracy and 83 percent of the time, the correct type and number of images were sent to reach a diagnosis. The current teleradiology system provides a much needed high quality service to a rural population of patients. </a:t>
            </a:r>
            <a:endParaRPr lang="en-US">
              <a:effectLst/>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a:p>
        </p:txBody>
      </p:sp>
    </p:spTree>
    <p:extLst>
      <p:ext uri="{BB962C8B-B14F-4D97-AF65-F5344CB8AC3E}">
        <p14:creationId xmlns:p14="http://schemas.microsoft.com/office/powerpoint/2010/main" val="406076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r>
              <a:rPr lang="en-US"/>
              <a:t>Night Hawk was a company more tailored as a private institute for radiology, having legal services and insurance brokers for work-related injuries. This, in comparison to Infinity Teleradiology, is night and day. Infinity Teleradiology has a better success rate as well as additional services, like mammograms, </a:t>
            </a:r>
            <a:r>
              <a:rPr lang="en-US" err="1"/>
              <a:t>ct</a:t>
            </a:r>
            <a:r>
              <a:rPr lang="en-US"/>
              <a:t>-scans, and nuclear medicine. They also had concierge interpretation, which can work in support with on-sight radiologists. With this in mind, Infinity Teleradiology was the clear winner in emergency room situations when health professionals do not know what injuries they will face. </a:t>
            </a:r>
          </a:p>
          <a:p>
            <a:endParaRPr lang="en-US"/>
          </a:p>
          <a:p>
            <a:pPr lvl="2" indent="-283210">
              <a:buFont typeface="Wingdings" panose="020B0604020202020204" pitchFamily="34" charset="0"/>
              <a:buChar char="§"/>
            </a:pPr>
            <a:r>
              <a:rPr lang="en-US"/>
              <a:t>Mammograms, x-rays, CT-scans, nuclear medicine</a:t>
            </a:r>
          </a:p>
          <a:p>
            <a:pPr lvl="2" indent="-283210">
              <a:buFont typeface="Wingdings" panose="020B0604020202020204" pitchFamily="34" charset="0"/>
              <a:buChar char="§"/>
            </a:pPr>
            <a:r>
              <a:rPr lang="en-US"/>
              <a:t>Concierge Interpretation</a:t>
            </a:r>
          </a:p>
          <a:p>
            <a:pPr lvl="2" indent="-283210">
              <a:buFont typeface="Wingdings" panose="020B0604020202020204" pitchFamily="34" charset="0"/>
              <a:buChar char="§"/>
            </a:pPr>
            <a:r>
              <a:rPr lang="en-US"/>
              <a:t>Sub-Specialty Radiology Services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a:p>
        </p:txBody>
      </p:sp>
    </p:spTree>
    <p:extLst>
      <p:ext uri="{BB962C8B-B14F-4D97-AF65-F5344CB8AC3E}">
        <p14:creationId xmlns:p14="http://schemas.microsoft.com/office/powerpoint/2010/main" val="2570260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3210" indent="-283210"/>
            <a:r>
              <a:rPr lang="en-US" b="0">
                <a:solidFill>
                  <a:srgbClr val="2D3B45"/>
                </a:solidFill>
                <a:ea typeface="+mn-lt"/>
                <a:cs typeface="+mn-lt"/>
              </a:rPr>
              <a:t>Research – minimal due to readily available vendor options and information as well as vendor responsiveness to come to site.</a:t>
            </a:r>
            <a:endParaRPr lang="en-US"/>
          </a:p>
          <a:p>
            <a:pPr lvl="1" indent="-283210">
              <a:buFont typeface="Courier New" panose="020B0604020202020204" pitchFamily="34" charset="0"/>
              <a:buChar char="o"/>
            </a:pPr>
            <a:r>
              <a:rPr lang="en-US" b="0">
                <a:solidFill>
                  <a:srgbClr val="2D3B45"/>
                </a:solidFill>
                <a:ea typeface="+mn-lt"/>
                <a:cs typeface="+mn-lt"/>
              </a:rPr>
              <a:t>FTEs</a:t>
            </a:r>
            <a:endParaRPr lang="en-US" b="1">
              <a:solidFill>
                <a:srgbClr val="5D7D40"/>
              </a:solidFill>
            </a:endParaRPr>
          </a:p>
          <a:p>
            <a:pPr lvl="1" indent="-283210">
              <a:buFont typeface="Courier New" panose="020B0604020202020204" pitchFamily="34" charset="0"/>
              <a:buChar char="o"/>
            </a:pPr>
            <a:r>
              <a:rPr lang="en-US" b="0">
                <a:solidFill>
                  <a:srgbClr val="2D3B45"/>
                </a:solidFill>
                <a:ea typeface="+mn-lt"/>
                <a:cs typeface="+mn-lt"/>
              </a:rPr>
              <a:t>Supplies</a:t>
            </a:r>
            <a:endParaRPr lang="en-US" b="1">
              <a:solidFill>
                <a:srgbClr val="5D7D40"/>
              </a:solidFill>
            </a:endParaRPr>
          </a:p>
          <a:p>
            <a:pPr lvl="1" indent="-283210">
              <a:buFont typeface="Courier New" panose="020B0604020202020204" pitchFamily="34" charset="0"/>
              <a:buChar char="o"/>
            </a:pPr>
            <a:r>
              <a:rPr lang="en-US" b="0">
                <a:solidFill>
                  <a:srgbClr val="2D3B45"/>
                </a:solidFill>
                <a:ea typeface="+mn-lt"/>
                <a:cs typeface="+mn-lt"/>
              </a:rPr>
              <a:t>Travel </a:t>
            </a:r>
            <a:endParaRPr lang="en-US" b="1">
              <a:solidFill>
                <a:srgbClr val="5D7D40"/>
              </a:solidFill>
            </a:endParaRPr>
          </a:p>
          <a:p>
            <a:pPr marL="283210" indent="-283210"/>
            <a:r>
              <a:rPr lang="en-US" b="0">
                <a:solidFill>
                  <a:srgbClr val="2D3B45"/>
                </a:solidFill>
                <a:ea typeface="+mn-lt"/>
                <a:cs typeface="+mn-lt"/>
              </a:rPr>
              <a:t>Installation costs – again minimal costs of several computer stations either located in a central area of radiology or within each modalities control room.</a:t>
            </a:r>
            <a:endParaRPr lang="en-US"/>
          </a:p>
          <a:p>
            <a:pPr lvl="1" indent="-283210">
              <a:buFont typeface="Courier New" panose="020B0604020202020204" pitchFamily="34" charset="0"/>
              <a:buChar char="o"/>
            </a:pPr>
            <a:r>
              <a:rPr lang="en-US" b="0">
                <a:solidFill>
                  <a:srgbClr val="2D3B45"/>
                </a:solidFill>
                <a:ea typeface="+mn-lt"/>
                <a:cs typeface="+mn-lt"/>
              </a:rPr>
              <a:t>Infrastructure</a:t>
            </a:r>
            <a:endParaRPr lang="en-US" b="1">
              <a:solidFill>
                <a:srgbClr val="5D7D40"/>
              </a:solidFill>
            </a:endParaRPr>
          </a:p>
          <a:p>
            <a:pPr lvl="1" indent="-283210">
              <a:buFont typeface="Courier New" panose="020B0604020202020204" pitchFamily="34" charset="0"/>
              <a:buChar char="o"/>
            </a:pPr>
            <a:r>
              <a:rPr lang="en-US" b="0">
                <a:solidFill>
                  <a:srgbClr val="2D3B45"/>
                </a:solidFill>
                <a:ea typeface="+mn-lt"/>
                <a:cs typeface="+mn-lt"/>
              </a:rPr>
              <a:t>Hardware</a:t>
            </a:r>
            <a:endParaRPr lang="en-US" b="1">
              <a:solidFill>
                <a:srgbClr val="5D7D40"/>
              </a:solidFill>
            </a:endParaRPr>
          </a:p>
          <a:p>
            <a:pPr lvl="1" indent="-283210">
              <a:buFont typeface="Courier New" panose="020B0604020202020204" pitchFamily="34" charset="0"/>
              <a:buChar char="o"/>
            </a:pPr>
            <a:r>
              <a:rPr lang="en-US" b="0">
                <a:solidFill>
                  <a:srgbClr val="2D3B45"/>
                </a:solidFill>
                <a:ea typeface="+mn-lt"/>
                <a:cs typeface="+mn-lt"/>
              </a:rPr>
              <a:t>Software</a:t>
            </a:r>
          </a:p>
          <a:p>
            <a:pPr marL="283210" indent="-283210"/>
            <a:r>
              <a:rPr lang="en-US" b="0">
                <a:solidFill>
                  <a:srgbClr val="2D3B45"/>
                </a:solidFill>
                <a:ea typeface="+mn-lt"/>
                <a:cs typeface="+mn-lt"/>
              </a:rPr>
              <a:t>Integration with other systems – DICOM </a:t>
            </a:r>
            <a:endParaRPr lang="en-US"/>
          </a:p>
          <a:p>
            <a:pPr marL="283210" indent="-283210"/>
            <a:r>
              <a:rPr lang="en-US" b="0">
                <a:solidFill>
                  <a:srgbClr val="2D3B45"/>
                </a:solidFill>
                <a:ea typeface="+mn-lt"/>
                <a:cs typeface="+mn-lt"/>
              </a:rPr>
              <a:t>Implementation – this system is often set up alongside main control systems with minimal interruption for installation.</a:t>
            </a:r>
          </a:p>
          <a:p>
            <a:pPr marL="628650" lvl="1" indent="-171450">
              <a:buFont typeface="Courier New" panose="02070309020205020404" pitchFamily="49" charset="0"/>
              <a:buChar char="o"/>
            </a:pPr>
            <a:r>
              <a:rPr lang="en-US" b="0">
                <a:solidFill>
                  <a:srgbClr val="2D3B45"/>
                </a:solidFill>
                <a:ea typeface="+mn-lt"/>
                <a:cs typeface="+mn-lt"/>
              </a:rPr>
              <a:t>Production loss</a:t>
            </a:r>
            <a:endParaRPr lang="en-US" b="1">
              <a:solidFill>
                <a:srgbClr val="5D7D40"/>
              </a:solidFill>
            </a:endParaRPr>
          </a:p>
          <a:p>
            <a:pPr marL="283210" marR="0" lvl="0" indent="-283210" algn="l" defTabSz="914400" rtl="0" eaLnBrk="1" fontAlgn="auto" latinLnBrk="0" hangingPunct="1">
              <a:lnSpc>
                <a:spcPct val="100000"/>
              </a:lnSpc>
              <a:spcBef>
                <a:spcPts val="0"/>
              </a:spcBef>
              <a:spcAft>
                <a:spcPts val="0"/>
              </a:spcAft>
              <a:buClrTx/>
              <a:buSzTx/>
              <a:buFontTx/>
              <a:buNone/>
              <a:tabLst/>
              <a:defRPr/>
            </a:pPr>
            <a:r>
              <a:rPr lang="en-US" b="0">
                <a:solidFill>
                  <a:srgbClr val="2D3B45"/>
                </a:solidFill>
                <a:ea typeface="+mn-lt"/>
                <a:cs typeface="+mn-lt"/>
              </a:rPr>
              <a:t>End-user training - this cost is minimal with usually 15-30 minutes of training per user.</a:t>
            </a:r>
            <a:endParaRPr lang="en-US"/>
          </a:p>
          <a:p>
            <a:pPr lvl="1" indent="-283210">
              <a:buFont typeface="Courier New" panose="020B0604020202020204" pitchFamily="34" charset="0"/>
              <a:buChar char="o"/>
            </a:pPr>
            <a:r>
              <a:rPr lang="en-US" b="0">
                <a:solidFill>
                  <a:srgbClr val="2D3B45"/>
                </a:solidFill>
                <a:ea typeface="+mn-lt"/>
                <a:cs typeface="+mn-lt"/>
              </a:rPr>
              <a:t>Current and future</a:t>
            </a:r>
            <a:endParaRPr lang="en-US" b="1">
              <a:solidFill>
                <a:srgbClr val="5D7D40"/>
              </a:solidFill>
            </a:endParaRPr>
          </a:p>
          <a:p>
            <a:pPr lvl="2" indent="-283210">
              <a:buFont typeface="Wingdings" panose="020B0604020202020204" pitchFamily="34" charset="0"/>
              <a:buChar char="§"/>
            </a:pPr>
            <a:r>
              <a:rPr lang="en-US" b="0">
                <a:solidFill>
                  <a:srgbClr val="2D3B45"/>
                </a:solidFill>
                <a:ea typeface="+mn-lt"/>
                <a:cs typeface="+mn-lt"/>
              </a:rPr>
              <a:t>FTEs</a:t>
            </a:r>
            <a:endParaRPr lang="en-US" b="1">
              <a:solidFill>
                <a:srgbClr val="5D7D40"/>
              </a:solidFill>
            </a:endParaRPr>
          </a:p>
          <a:p>
            <a:pPr lvl="2" indent="-283210">
              <a:buFont typeface="Wingdings" panose="020B0604020202020204" pitchFamily="34" charset="0"/>
              <a:buChar char="§"/>
            </a:pPr>
            <a:r>
              <a:rPr lang="en-US" b="0">
                <a:solidFill>
                  <a:srgbClr val="2D3B45"/>
                </a:solidFill>
                <a:ea typeface="+mn-lt"/>
                <a:cs typeface="+mn-lt"/>
              </a:rPr>
              <a:t>Materials</a:t>
            </a:r>
            <a:endParaRPr lang="en-US"/>
          </a:p>
          <a:p>
            <a:pPr marL="173990" lvl="1" indent="0">
              <a:buFont typeface="Courier New" panose="020B0604020202020204" pitchFamily="34" charset="0"/>
              <a:buNone/>
            </a:pPr>
            <a:endParaRPr lang="en-US"/>
          </a:p>
          <a:p>
            <a:endParaRPr lang="en-US"/>
          </a:p>
        </p:txBody>
      </p:sp>
      <p:sp>
        <p:nvSpPr>
          <p:cNvPr id="4" name="Slide Number Placeholder 3"/>
          <p:cNvSpPr>
            <a:spLocks noGrp="1"/>
          </p:cNvSpPr>
          <p:nvPr>
            <p:ph type="sldNum" sz="quarter" idx="5"/>
          </p:nvPr>
        </p:nvSpPr>
        <p:spPr/>
        <p:txBody>
          <a:bodyPr/>
          <a:lstStyle/>
          <a:p>
            <a:fld id="{363B9569-68DD-4B79-80ED-0B262D8C515C}" type="slidenum">
              <a:rPr lang="en-US" smtClean="0"/>
              <a:t>13</a:t>
            </a:fld>
            <a:endParaRPr lang="en-US"/>
          </a:p>
        </p:txBody>
      </p:sp>
    </p:spTree>
    <p:extLst>
      <p:ext uri="{BB962C8B-B14F-4D97-AF65-F5344CB8AC3E}">
        <p14:creationId xmlns:p14="http://schemas.microsoft.com/office/powerpoint/2010/main" val="4010842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lang="en-US" b="0">
                <a:solidFill>
                  <a:srgbClr val="2D3B45"/>
                </a:solidFill>
                <a:ea typeface="+mn-lt"/>
                <a:cs typeface="+mn-lt"/>
              </a:rPr>
              <a:t>Security – NEXT too</a:t>
            </a:r>
            <a:endParaRPr lang="en-US"/>
          </a:p>
          <a:p>
            <a:pPr marL="342900" indent="-342900"/>
            <a:r>
              <a:rPr lang="en-US" b="0">
                <a:solidFill>
                  <a:srgbClr val="2D3B45"/>
                </a:solidFill>
                <a:ea typeface="+mn-lt"/>
                <a:cs typeface="+mn-lt"/>
              </a:rPr>
              <a:t>System maintenance- with optimal choice of vendor and contract options, security concerns would be addressed and costs covered in the paid service as well as system maintenance, updates, and upgrades.</a:t>
            </a:r>
            <a:endParaRPr lang="en-US"/>
          </a:p>
          <a:p>
            <a:pPr marL="745490" lvl="1" indent="-342900">
              <a:buFont typeface="Courier New" panose="020B0604020202020204" pitchFamily="34" charset="0"/>
              <a:buChar char="o"/>
            </a:pPr>
            <a:r>
              <a:rPr lang="en-US" b="0">
                <a:solidFill>
                  <a:srgbClr val="2D3B45"/>
                </a:solidFill>
                <a:ea typeface="+mn-lt"/>
                <a:cs typeface="+mn-lt"/>
              </a:rPr>
              <a:t>Updates and upgrades</a:t>
            </a:r>
            <a:endParaRPr lang="en-US" b="1">
              <a:solidFill>
                <a:srgbClr val="5D7D40"/>
              </a:solidFill>
            </a:endParaRPr>
          </a:p>
          <a:p>
            <a:pPr marL="342900" indent="-342900"/>
            <a:r>
              <a:rPr lang="en-US" b="0">
                <a:solidFill>
                  <a:srgbClr val="2D3B45"/>
                </a:solidFill>
                <a:ea typeface="+mn-lt"/>
                <a:cs typeface="+mn-lt"/>
              </a:rPr>
              <a:t>Quality assurance – often, teleradiology services are used as a preliminary reading performed during off-peak hours followed-up with a final interpretation by the staff radiologist upon return to shift.</a:t>
            </a:r>
            <a:endParaRPr lang="en-US">
              <a:solidFill>
                <a:srgbClr val="5D7D40"/>
              </a:solidFill>
              <a:ea typeface="+mn-lt"/>
              <a:cs typeface="+mn-lt"/>
            </a:endParaRPr>
          </a:p>
          <a:p>
            <a:pPr marL="342900" indent="-342900"/>
            <a:r>
              <a:rPr lang="en-US" b="0">
                <a:solidFill>
                  <a:srgbClr val="2D3B45"/>
                </a:solidFill>
                <a:ea typeface="+mn-lt"/>
                <a:cs typeface="+mn-lt"/>
              </a:rPr>
              <a:t>Loss of staff radiologist income – often with independent radiology groups, the teleradiology reading fees are paid by that group.</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lang="en-US" b="0">
                <a:solidFill>
                  <a:srgbClr val="2D3B45"/>
                </a:solidFill>
                <a:ea typeface="+mn-lt"/>
                <a:cs typeface="+mn-lt"/>
              </a:rPr>
              <a:t>			- </a:t>
            </a:r>
            <a:r>
              <a:rPr lang="en-US" b="0" i="0">
                <a:solidFill>
                  <a:srgbClr val="222222"/>
                </a:solidFill>
                <a:effectLst/>
                <a:latin typeface="HelveticaNeue"/>
              </a:rPr>
              <a:t>The teleradiology fee structure and rates for final interpretations range from $11 to $75 per study depending on the imaging modality.  Modalities include X-Ray, 		Ultrasound, CT, MRI, PET, PET/CT, MSK, Echocardiogram, Mammography and others.</a:t>
            </a:r>
            <a:endParaRPr lang="en-US"/>
          </a:p>
          <a:p>
            <a:pPr marL="342900" indent="-342900"/>
            <a:r>
              <a:rPr lang="en-US" b="0">
                <a:solidFill>
                  <a:srgbClr val="2D3B45"/>
                </a:solidFill>
                <a:ea typeface="+mn-lt"/>
                <a:cs typeface="+mn-lt"/>
              </a:rPr>
              <a:t>Regulations and liability </a:t>
            </a:r>
            <a:endParaRPr lang="en-US">
              <a:solidFill>
                <a:srgbClr val="5D7D40"/>
              </a:solidFill>
              <a:ea typeface="+mn-lt"/>
              <a:cs typeface="+mn-lt"/>
            </a:endParaRPr>
          </a:p>
          <a:p>
            <a:endParaRPr lang="en-US"/>
          </a:p>
        </p:txBody>
      </p:sp>
      <p:sp>
        <p:nvSpPr>
          <p:cNvPr id="4" name="Slide Number Placeholder 3"/>
          <p:cNvSpPr>
            <a:spLocks noGrp="1"/>
          </p:cNvSpPr>
          <p:nvPr>
            <p:ph type="sldNum" sz="quarter" idx="5"/>
          </p:nvPr>
        </p:nvSpPr>
        <p:spPr/>
        <p:txBody>
          <a:bodyPr/>
          <a:lstStyle/>
          <a:p>
            <a:fld id="{363B9569-68DD-4B79-80ED-0B262D8C515C}" type="slidenum">
              <a:rPr lang="en-US" smtClean="0"/>
              <a:t>14</a:t>
            </a:fld>
            <a:endParaRPr lang="en-US"/>
          </a:p>
        </p:txBody>
      </p:sp>
    </p:spTree>
    <p:extLst>
      <p:ext uri="{BB962C8B-B14F-4D97-AF65-F5344CB8AC3E}">
        <p14:creationId xmlns:p14="http://schemas.microsoft.com/office/powerpoint/2010/main" val="2884247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rgbClr val="2D3B45"/>
                </a:solidFill>
                <a:ea typeface="+mn-lt"/>
                <a:cs typeface="+mn-lt"/>
              </a:rPr>
              <a:t>Cost projections of NOT implementing – </a:t>
            </a:r>
            <a:r>
              <a:rPr lang="en-US" b="0" i="0">
                <a:solidFill>
                  <a:srgbClr val="0D0D0D"/>
                </a:solidFill>
                <a:effectLst/>
                <a:latin typeface="Söhne"/>
              </a:rPr>
              <a:t>The most frequently utilized scenario involves offering diagnostic image interpretation during evening and night shifts for the Emergency Department (ED) and urgent inpatient (IP) services. This facilitates timely and accurate diagnoses to address urgent patient health concerns. Alternatively, assigning image interpretation duties to non-specialists such as ED providers and hospitalists can diminish their productivity. Furthermore, this practice may frequently result in misdiagnoses or delayed diagnoses, posing significant risks to patient care.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0D0D0D"/>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0D0D0D"/>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https://www.aarp.org/health/conditions-treatments/info-2023/cost-of-wrong-diagnosis.html#:~:text=Costs%20of%20misdiagnosis,%2C%20according%20to%20StatNews.com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https://www.scirp.org/journal/paperinformation?paperid=85235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363B9569-68DD-4B79-80ED-0B262D8C515C}" type="slidenum">
              <a:rPr lang="en-US" smtClean="0"/>
              <a:t>15</a:t>
            </a:fld>
            <a:endParaRPr lang="en-US"/>
          </a:p>
        </p:txBody>
      </p:sp>
    </p:spTree>
    <p:extLst>
      <p:ext uri="{BB962C8B-B14F-4D97-AF65-F5344CB8AC3E}">
        <p14:creationId xmlns:p14="http://schemas.microsoft.com/office/powerpoint/2010/main" val="1239400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b="0" i="0" u="none" strike="noStrike">
                <a:solidFill>
                  <a:srgbClr val="000000"/>
                </a:solidFill>
                <a:effectLst/>
                <a:latin typeface="Arial" panose="020B0604020202020204" pitchFamily="34" charset="0"/>
              </a:rPr>
              <a:t>We will be looking to measure 3 aspects amongst the staff and the patients in order to analyze Infinity Teleradiology’s implementation. These aspects are the population health, the staff satisfaction and efficiency and workflow. ​The</a:t>
            </a:r>
            <a:r>
              <a:rPr lang="en-US" sz="1200" b="0" i="0" u="none" strike="noStrike">
                <a:solidFill>
                  <a:schemeClr val="tx1"/>
                </a:solidFill>
                <a:effectLst/>
                <a:latin typeface="+mn-lt"/>
              </a:rPr>
              <a:t> a</a:t>
            </a:r>
            <a:r>
              <a:rPr lang="en-US" sz="1800" b="0" i="0" u="none" strike="noStrike">
                <a:solidFill>
                  <a:srgbClr val="000000"/>
                </a:solidFill>
                <a:effectLst/>
                <a:latin typeface="Arial" panose="020B0604020202020204" pitchFamily="34" charset="0"/>
              </a:rPr>
              <a:t>mount of accurate diagnoses and the clinical outcomes of the cases, like whether or not they were positive or negative will be measured and patient satisfaction of their care will also be measured in order to understand the effect Infinity Teleradiology has on the opinion of the quality of their healthcare​. To measure staff satisfaction, we will be assessing their attitudes towards the implementation of the teleradiology service and see how they like it. The staff's work life balance and burnout levels will also be looked at to see how it has improved or declined.​</a:t>
            </a:r>
            <a:r>
              <a:rPr lang="en-US" sz="1200" b="0" i="0" u="none" strike="noStrike">
                <a:solidFill>
                  <a:schemeClr val="tx1"/>
                </a:solidFill>
                <a:effectLst/>
                <a:latin typeface="+mn-lt"/>
              </a:rPr>
              <a:t> </a:t>
            </a:r>
            <a:r>
              <a:rPr lang="en-US" sz="1800" b="0" i="0" u="none" strike="noStrike">
                <a:solidFill>
                  <a:srgbClr val="000000"/>
                </a:solidFill>
                <a:effectLst/>
                <a:latin typeface="Arial" panose="020B0604020202020204" pitchFamily="34" charset="0"/>
              </a:rPr>
              <a:t>The turnaround time and the number of cases that are being processed in a certain period will be measured in order to see if the effect teleradiology has on the timeliness of the provided healthcare.</a:t>
            </a:r>
            <a:endParaRPr lang="en-US">
              <a:effectLst/>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89C7E07-3C67-C64C-8DA0-0404F6303970}" type="slidenum">
              <a:rPr lang="en-US" smtClean="0"/>
              <a:t>21</a:t>
            </a:fld>
            <a:endParaRPr lang="en-US"/>
          </a:p>
        </p:txBody>
      </p:sp>
    </p:spTree>
    <p:extLst>
      <p:ext uri="{BB962C8B-B14F-4D97-AF65-F5344CB8AC3E}">
        <p14:creationId xmlns:p14="http://schemas.microsoft.com/office/powerpoint/2010/main" val="153709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a:solidFill>
                  <a:srgbClr val="000000"/>
                </a:solidFill>
                <a:effectLst/>
                <a:latin typeface="Arial" panose="020B0604020202020204" pitchFamily="34" charset="0"/>
              </a:rPr>
              <a:t>We will measure these aspects by providing patients with surveys and following up with them to get their opinion. We will also comparatively analyze our wait times from before the application of Infinity to after. To measure the aspects amongst the staff, we will provide a 1-month, 6-month, and a 12-month survey that will go over different topics relating to their work-life, like burnout level and work-life balance abilities. We will also be able to understand staff attitudes towards the new technology.</a:t>
            </a:r>
            <a:endParaRPr lang="en-US">
              <a:effectLst/>
            </a:endParaRPr>
          </a:p>
        </p:txBody>
      </p:sp>
      <p:sp>
        <p:nvSpPr>
          <p:cNvPr id="4" name="Slide Number Placeholder 3"/>
          <p:cNvSpPr>
            <a:spLocks noGrp="1"/>
          </p:cNvSpPr>
          <p:nvPr>
            <p:ph type="sldNum" sz="quarter" idx="5"/>
          </p:nvPr>
        </p:nvSpPr>
        <p:spPr/>
        <p:txBody>
          <a:bodyPr/>
          <a:lstStyle/>
          <a:p>
            <a:fld id="{A89C7E07-3C67-C64C-8DA0-0404F6303970}" type="slidenum">
              <a:rPr lang="en-US" smtClean="0"/>
              <a:t>22</a:t>
            </a:fld>
            <a:endParaRPr lang="en-US"/>
          </a:p>
        </p:txBody>
      </p:sp>
    </p:spTree>
    <p:extLst>
      <p:ext uri="{BB962C8B-B14F-4D97-AF65-F5344CB8AC3E}">
        <p14:creationId xmlns:p14="http://schemas.microsoft.com/office/powerpoint/2010/main" val="3308156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teleradiology would be an exemplary implementation in solving the radiology staffing shortages. This is backed up by the previous implementation of teleradiology, supporting its claims on reliability and usefulness in a healthcare setting. When looking for a teleradiology company, Infinity Teleradiology was the clear choice. With its expansive imaging options and high accuracy percentages, we knew that relying on them would not cause any issues. As projected, infinity teleradiology would solve radiologist burnout,  promoting a healthier work environment that would allow radiologists and other health professionals to focus more on their patients, ultimately increasing patient satisfaction, our other issue. Like other health IT implementations, it would require work. End-users would need to be trained, and the emergency’s finances will be allocated to the implementation; however, the long-term effects on its staff and patients make it worth it. </a:t>
            </a:r>
          </a:p>
        </p:txBody>
      </p:sp>
      <p:sp>
        <p:nvSpPr>
          <p:cNvPr id="4" name="Slide Number Placeholder 3"/>
          <p:cNvSpPr>
            <a:spLocks noGrp="1"/>
          </p:cNvSpPr>
          <p:nvPr>
            <p:ph type="sldNum" sz="quarter" idx="5"/>
          </p:nvPr>
        </p:nvSpPr>
        <p:spPr/>
        <p:txBody>
          <a:bodyPr/>
          <a:lstStyle/>
          <a:p>
            <a:fld id="{A89C7E07-3C67-C64C-8DA0-0404F6303970}" type="slidenum">
              <a:rPr lang="en-US" smtClean="0"/>
              <a:t>23</a:t>
            </a:fld>
            <a:endParaRPr lang="en-US"/>
          </a:p>
        </p:txBody>
      </p:sp>
    </p:spTree>
    <p:extLst>
      <p:ext uri="{BB962C8B-B14F-4D97-AF65-F5344CB8AC3E}">
        <p14:creationId xmlns:p14="http://schemas.microsoft.com/office/powerpoint/2010/main" val="649422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add content</a:t>
            </a:r>
          </a:p>
          <a:p>
            <a:pPr lvl="1"/>
            <a:r>
              <a:rPr lang="en-US"/>
              <a:t>Second level</a:t>
            </a:r>
          </a:p>
          <a:p>
            <a:pPr lvl="2"/>
            <a:r>
              <a:rPr lang="en-US"/>
              <a:t>Third level</a:t>
            </a:r>
          </a:p>
          <a:p>
            <a:pPr lvl="3"/>
            <a:endParaRPr lang="en-US"/>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png"/><Relationship Id="rId5" Type="http://schemas.openxmlformats.org/officeDocument/2006/relationships/chart" Target="../charts/char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png"/><Relationship Id="rId5" Type="http://schemas.openxmlformats.org/officeDocument/2006/relationships/image" Target="../media/image7.jpe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3.png"/><Relationship Id="rId4"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8" Type="http://schemas.openxmlformats.org/officeDocument/2006/relationships/hyperlink" Target="https://www.infinityteleradiology.com/services" TargetMode="External"/><Relationship Id="rId3" Type="http://schemas.openxmlformats.org/officeDocument/2006/relationships/hyperlink" Target="https://doi.org/10.7812/tpp/05-119" TargetMode="External"/><Relationship Id="rId7" Type="http://schemas.openxmlformats.org/officeDocument/2006/relationships/hyperlink" Target="http://Www.infinityteleradiology.com" TargetMode="External"/><Relationship Id="rId2" Type="http://schemas.openxmlformats.org/officeDocument/2006/relationships/hyperlink" Target="https://doi.org/10.2214/ajr.19.21794" TargetMode="External"/><Relationship Id="rId1" Type="http://schemas.openxmlformats.org/officeDocument/2006/relationships/slideLayout" Target="../slideLayouts/slideLayout2.xml"/><Relationship Id="rId6" Type="http://schemas.openxmlformats.org/officeDocument/2006/relationships/hyperlink" Target="https://www.nighthawkradiology.com/teleradiology-services/" TargetMode="External"/><Relationship Id="rId5" Type="http://schemas.openxmlformats.org/officeDocument/2006/relationships/hyperlink" Target="https://doi.org/10.1186/s13104-020-05199-8" TargetMode="External"/><Relationship Id="rId4" Type="http://schemas.openxmlformats.org/officeDocument/2006/relationships/hyperlink" Target="https://doi.org/10.1117/12.27459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5877339" y="411479"/>
            <a:ext cx="5918965" cy="2855182"/>
          </a:xfrm>
        </p:spPr>
        <p:txBody>
          <a:bodyPr/>
          <a:lstStyle/>
          <a:p>
            <a:r>
              <a:rPr lang="en-US" sz="7200"/>
              <a:t>Teleradiology </a:t>
            </a:r>
          </a:p>
        </p:txBody>
      </p:sp>
      <p:sp>
        <p:nvSpPr>
          <p:cNvPr id="4" name="TextBox 3">
            <a:extLst>
              <a:ext uri="{FF2B5EF4-FFF2-40B4-BE49-F238E27FC236}">
                <a16:creationId xmlns:a16="http://schemas.microsoft.com/office/drawing/2014/main" id="{22BBE607-47EB-315F-3BD5-18E0E86807E2}"/>
              </a:ext>
            </a:extLst>
          </p:cNvPr>
          <p:cNvSpPr txBox="1"/>
          <p:nvPr/>
        </p:nvSpPr>
        <p:spPr>
          <a:xfrm>
            <a:off x="6309904" y="4094205"/>
            <a:ext cx="5231307" cy="3416320"/>
          </a:xfrm>
          <a:prstGeom prst="rect">
            <a:avLst/>
          </a:prstGeom>
          <a:noFill/>
        </p:spPr>
        <p:txBody>
          <a:bodyPr wrap="square" lIns="91440" tIns="45720" rIns="91440" bIns="45720" rtlCol="0" anchor="t">
            <a:spAutoFit/>
          </a:bodyPr>
          <a:lstStyle/>
          <a:p>
            <a:r>
              <a:rPr lang="en-US">
                <a:solidFill>
                  <a:schemeClr val="bg1"/>
                </a:solidFill>
              </a:rPr>
              <a:t>LIS4776: Health IT                           3/04/24</a:t>
            </a:r>
          </a:p>
          <a:p>
            <a:r>
              <a:rPr lang="en-US">
                <a:solidFill>
                  <a:schemeClr val="bg1"/>
                </a:solidFill>
              </a:rPr>
              <a:t>Dr. Christina Eldredge </a:t>
            </a:r>
          </a:p>
          <a:p>
            <a:endParaRPr lang="en-US">
              <a:solidFill>
                <a:schemeClr val="bg1"/>
              </a:solidFill>
            </a:endParaRPr>
          </a:p>
          <a:p>
            <a:endParaRPr lang="en-US">
              <a:solidFill>
                <a:schemeClr val="bg1"/>
              </a:solidFill>
            </a:endParaRPr>
          </a:p>
          <a:p>
            <a:r>
              <a:rPr lang="en-US" err="1">
                <a:solidFill>
                  <a:schemeClr val="bg1"/>
                </a:solidFill>
              </a:rPr>
              <a:t>Daiyana</a:t>
            </a:r>
            <a:r>
              <a:rPr lang="en-US">
                <a:solidFill>
                  <a:schemeClr val="bg1"/>
                </a:solidFill>
              </a:rPr>
              <a:t> Z. – Technical Advisor</a:t>
            </a:r>
          </a:p>
          <a:p>
            <a:r>
              <a:rPr lang="en-US">
                <a:solidFill>
                  <a:schemeClr val="bg1"/>
                </a:solidFill>
              </a:rPr>
              <a:t>Luis B. — Cybersecurity Specialist </a:t>
            </a:r>
          </a:p>
          <a:p>
            <a:r>
              <a:rPr lang="en-US">
                <a:solidFill>
                  <a:schemeClr val="bg1"/>
                </a:solidFill>
              </a:rPr>
              <a:t>Makayla H.–Outcome Specialist</a:t>
            </a:r>
          </a:p>
          <a:p>
            <a:r>
              <a:rPr lang="en-US">
                <a:solidFill>
                  <a:schemeClr val="bg1"/>
                </a:solidFill>
              </a:rPr>
              <a:t>Melinda P. – Financial Advisor </a:t>
            </a:r>
          </a:p>
          <a:p>
            <a:r>
              <a:rPr lang="en-US">
                <a:solidFill>
                  <a:schemeClr val="bg1"/>
                </a:solidFill>
              </a:rPr>
              <a:t>Gian G. – Team Leader </a:t>
            </a:r>
          </a:p>
          <a:p>
            <a:endParaRPr lang="en-US">
              <a:solidFill>
                <a:schemeClr val="bg1"/>
              </a:solidFill>
            </a:endParaRPr>
          </a:p>
          <a:p>
            <a:endParaRPr lang="en-US">
              <a:solidFill>
                <a:schemeClr val="bg1"/>
              </a:solidFill>
            </a:endParaRPr>
          </a:p>
          <a:p>
            <a:endParaRPr lang="en-US">
              <a:solidFill>
                <a:schemeClr val="bg1"/>
              </a:solidFill>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3957" y="1191499"/>
            <a:ext cx="6787747" cy="657095"/>
          </a:xfrm>
        </p:spPr>
        <p:txBody>
          <a:bodyPr/>
          <a:lstStyle/>
          <a:p>
            <a:r>
              <a:rPr lang="en-US"/>
              <a:t>Table of Contents </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957" y="2177143"/>
            <a:ext cx="2943900" cy="4491285"/>
          </a:xfrm>
        </p:spPr>
        <p:txBody>
          <a:bodyPr vert="horz" lIns="0" tIns="457200" rIns="0" bIns="0" rtlCol="0" anchor="t">
            <a:noAutofit/>
          </a:bodyPr>
          <a:lstStyle/>
          <a:p>
            <a:pPr marL="283210" indent="-283210"/>
            <a:r>
              <a:rPr lang="en-US" sz="1100" dirty="0"/>
              <a:t>Introduction</a:t>
            </a:r>
          </a:p>
          <a:p>
            <a:pPr marL="283210" indent="-283210"/>
            <a:r>
              <a:rPr lang="en-US" sz="1100" dirty="0"/>
              <a:t>Triple/Quadruple Aim</a:t>
            </a:r>
          </a:p>
          <a:p>
            <a:pPr marL="283210" indent="-283210"/>
            <a:r>
              <a:rPr lang="en-US" sz="1100" dirty="0"/>
              <a:t>Case Study #1-3</a:t>
            </a:r>
          </a:p>
          <a:p>
            <a:pPr marL="283210" indent="-283210"/>
            <a:r>
              <a:rPr lang="en-US" sz="1100" dirty="0"/>
              <a:t>Teleradiology Company #1-2</a:t>
            </a:r>
          </a:p>
          <a:p>
            <a:pPr marL="283210" indent="-283210"/>
            <a:r>
              <a:rPr lang="en-US" sz="1100" dirty="0"/>
              <a:t>Differences within Teleradiology Companies</a:t>
            </a:r>
          </a:p>
          <a:p>
            <a:pPr marL="283210" indent="-283210"/>
            <a:r>
              <a:rPr lang="en-US" sz="1100" dirty="0"/>
              <a:t>Why We Chose Infinity Teleradiology  </a:t>
            </a:r>
          </a:p>
          <a:p>
            <a:pPr marL="283210" indent="-283210"/>
            <a:r>
              <a:rPr lang="en-US" sz="1100" dirty="0"/>
              <a:t>Financial Evaluation</a:t>
            </a:r>
          </a:p>
          <a:p>
            <a:pPr marL="283210" indent="-283210"/>
            <a:r>
              <a:rPr lang="en-US" sz="1100" dirty="0"/>
              <a:t>Privacy and Cybersecurity in Teleradiology </a:t>
            </a:r>
          </a:p>
          <a:p>
            <a:pPr marL="283210" indent="-283210"/>
            <a:r>
              <a:rPr lang="en-US" sz="1100" dirty="0"/>
              <a:t>Protecting Patient</a:t>
            </a:r>
            <a:r>
              <a:rPr lang="es-419" sz="1100" dirty="0"/>
              <a:t> Data </a:t>
            </a:r>
          </a:p>
          <a:p>
            <a:pPr marL="283210" indent="-283210"/>
            <a:r>
              <a:rPr lang="es-419" sz="1100" dirty="0" err="1"/>
              <a:t>Ensuring</a:t>
            </a:r>
            <a:r>
              <a:rPr lang="es-419" sz="1100" dirty="0"/>
              <a:t> Security and Trust </a:t>
            </a:r>
            <a:endParaRPr lang="en-US" sz="1100" dirty="0"/>
          </a:p>
        </p:txBody>
      </p:sp>
      <p:sp>
        <p:nvSpPr>
          <p:cNvPr id="6" name="Text Placeholder 2">
            <a:extLst>
              <a:ext uri="{FF2B5EF4-FFF2-40B4-BE49-F238E27FC236}">
                <a16:creationId xmlns:a16="http://schemas.microsoft.com/office/drawing/2014/main" id="{8DEC1F39-D3BF-6614-A13F-B35CCE633C4E}"/>
              </a:ext>
            </a:extLst>
          </p:cNvPr>
          <p:cNvSpPr>
            <a:spLocks noGrp="1"/>
          </p:cNvSpPr>
          <p:nvPr/>
        </p:nvSpPr>
        <p:spPr>
          <a:xfrm>
            <a:off x="3537857" y="2177142"/>
            <a:ext cx="2943900" cy="4491285"/>
          </a:xfrm>
          <a:prstGeom prst="rect">
            <a:avLst/>
          </a:prstGeom>
        </p:spPr>
        <p:txBody>
          <a:bodyPr vert="horz" lIns="0" tIns="457200" rIns="0" bIns="0" rtlCol="0" anchor="t">
            <a:noAutofit/>
          </a:bodyPr>
          <a:lstStyle>
            <a:lvl1pPr marL="283464" indent="-283464" algn="l" defTabSz="914400" rtl="0" eaLnBrk="1" latinLnBrk="0" hangingPunct="1">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marL="685800" indent="-283464" algn="l" defTabSz="914400" rtl="0" eaLnBrk="1" latinLnBrk="0" hangingPunct="1">
              <a:lnSpc>
                <a:spcPct val="90000"/>
              </a:lnSpc>
              <a:spcBef>
                <a:spcPts val="6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3210" indent="-283210"/>
            <a:r>
              <a:rPr lang="es-419" sz="1100" dirty="0" err="1"/>
              <a:t>Usability</a:t>
            </a:r>
            <a:r>
              <a:rPr lang="es-419" sz="1100" dirty="0"/>
              <a:t> </a:t>
            </a:r>
            <a:r>
              <a:rPr lang="en-US" sz="1100" dirty="0"/>
              <a:t>Factors in Teleradiology </a:t>
            </a:r>
          </a:p>
          <a:p>
            <a:pPr marL="283210" indent="-283210"/>
            <a:r>
              <a:rPr lang="en-US" sz="1100" dirty="0"/>
              <a:t>User-Centered Design and Continuous  Improvement </a:t>
            </a:r>
          </a:p>
          <a:p>
            <a:pPr marL="283210" indent="-283210"/>
            <a:r>
              <a:rPr lang="en-US" sz="1100" dirty="0"/>
              <a:t>Outcomes Measured</a:t>
            </a:r>
          </a:p>
          <a:p>
            <a:pPr marL="283210" indent="-283210"/>
            <a:r>
              <a:rPr lang="en-US" sz="1100" dirty="0"/>
              <a:t>Conclusion </a:t>
            </a:r>
          </a:p>
          <a:p>
            <a:pPr marL="283210" indent="-283210"/>
            <a:r>
              <a:rPr lang="en-US" sz="1100" dirty="0"/>
              <a:t>References </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8C598-03FB-0165-B99E-0DC5D43DBBF0}"/>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B48A75A8-D39C-C61F-3A77-216414776C38}"/>
              </a:ext>
            </a:extLst>
          </p:cNvPr>
          <p:cNvSpPr>
            <a:spLocks noGrp="1"/>
          </p:cNvSpPr>
          <p:nvPr>
            <p:ph sz="quarter" idx="13"/>
          </p:nvPr>
        </p:nvSpPr>
        <p:spPr/>
        <p:txBody>
          <a:bodyPr>
            <a:normAutofit/>
          </a:bodyPr>
          <a:lstStyle/>
          <a:p>
            <a:r>
              <a:rPr lang="en-US" b="0">
                <a:solidFill>
                  <a:schemeClr val="bg1"/>
                </a:solidFill>
              </a:rPr>
              <a:t>Standalone ER is facing radiologist shortages</a:t>
            </a:r>
          </a:p>
          <a:p>
            <a:r>
              <a:rPr lang="en-US" b="0">
                <a:solidFill>
                  <a:schemeClr val="bg1"/>
                </a:solidFill>
              </a:rPr>
              <a:t>Patient Satisfaction is low </a:t>
            </a:r>
          </a:p>
          <a:p>
            <a:r>
              <a:rPr lang="en-US" b="0">
                <a:solidFill>
                  <a:schemeClr val="bg1"/>
                </a:solidFill>
              </a:rPr>
              <a:t>Radiologist Burnout is high </a:t>
            </a:r>
          </a:p>
          <a:p>
            <a:r>
              <a:rPr lang="en-US" b="0">
                <a:solidFill>
                  <a:schemeClr val="bg1"/>
                </a:solidFill>
              </a:rPr>
              <a:t>Administrative staff wants to implement Teleradiology to combat their problems </a:t>
            </a:r>
          </a:p>
        </p:txBody>
      </p:sp>
      <p:pic>
        <p:nvPicPr>
          <p:cNvPr id="4" name="intro">
            <a:hlinkClick r:id="" action="ppaction://media"/>
            <a:extLst>
              <a:ext uri="{FF2B5EF4-FFF2-40B4-BE49-F238E27FC236}">
                <a16:creationId xmlns:a16="http://schemas.microsoft.com/office/drawing/2014/main" id="{BA123E78-6DDE-0C1E-2CC7-8B4B4E954E3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50677" y="498962"/>
            <a:ext cx="487363" cy="487363"/>
          </a:xfrm>
          <a:prstGeom prst="rect">
            <a:avLst/>
          </a:prstGeom>
        </p:spPr>
      </p:pic>
    </p:spTree>
    <p:extLst>
      <p:ext uri="{BB962C8B-B14F-4D97-AF65-F5344CB8AC3E}">
        <p14:creationId xmlns:p14="http://schemas.microsoft.com/office/powerpoint/2010/main" val="216981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14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521CC-FABD-DAF6-989A-0505FBD3A4F4}"/>
              </a:ext>
            </a:extLst>
          </p:cNvPr>
          <p:cNvSpPr>
            <a:spLocks noGrp="1"/>
          </p:cNvSpPr>
          <p:nvPr>
            <p:ph type="title"/>
          </p:nvPr>
        </p:nvSpPr>
        <p:spPr/>
        <p:txBody>
          <a:bodyPr/>
          <a:lstStyle/>
          <a:p>
            <a:r>
              <a:rPr lang="en-US"/>
              <a:t>Triple/Quadruple Aims </a:t>
            </a:r>
          </a:p>
        </p:txBody>
      </p:sp>
      <p:sp>
        <p:nvSpPr>
          <p:cNvPr id="3" name="Content Placeholder 2">
            <a:extLst>
              <a:ext uri="{FF2B5EF4-FFF2-40B4-BE49-F238E27FC236}">
                <a16:creationId xmlns:a16="http://schemas.microsoft.com/office/drawing/2014/main" id="{81584477-BABB-6BC9-1A8F-8495D228C9F1}"/>
              </a:ext>
            </a:extLst>
          </p:cNvPr>
          <p:cNvSpPr>
            <a:spLocks noGrp="1"/>
          </p:cNvSpPr>
          <p:nvPr>
            <p:ph sz="quarter" idx="13"/>
          </p:nvPr>
        </p:nvSpPr>
        <p:spPr/>
        <p:txBody>
          <a:bodyPr vert="horz" lIns="0" tIns="228600" rIns="0" bIns="0" rtlCol="0" anchor="t">
            <a:normAutofit/>
          </a:bodyPr>
          <a:lstStyle/>
          <a:p>
            <a:pPr marL="0" indent="0">
              <a:buNone/>
            </a:pPr>
            <a:r>
              <a:rPr lang="en-US">
                <a:solidFill>
                  <a:srgbClr val="5D7D40"/>
                </a:solidFill>
              </a:rPr>
              <a:t>Triple Aim </a:t>
            </a:r>
          </a:p>
          <a:p>
            <a:pPr lvl="1" indent="-283210"/>
            <a:r>
              <a:rPr lang="en-US"/>
              <a:t>Improving Population Health</a:t>
            </a:r>
          </a:p>
          <a:p>
            <a:pPr lvl="1" indent="-283210"/>
            <a:r>
              <a:rPr lang="en-US">
                <a:ea typeface="+mn-lt"/>
                <a:cs typeface="+mn-lt"/>
              </a:rPr>
              <a:t>Improving Patient Experience of Care </a:t>
            </a:r>
            <a:endParaRPr lang="en-US"/>
          </a:p>
          <a:p>
            <a:pPr marL="0" indent="0">
              <a:buNone/>
            </a:pPr>
            <a:r>
              <a:rPr lang="en-US">
                <a:solidFill>
                  <a:srgbClr val="5D7D40"/>
                </a:solidFill>
              </a:rPr>
              <a:t>Quadruple Aim</a:t>
            </a:r>
          </a:p>
          <a:p>
            <a:pPr lvl="1" indent="-283210"/>
            <a:r>
              <a:rPr lang="en-US"/>
              <a:t>Improving Health Care Provider Experience  </a:t>
            </a:r>
          </a:p>
          <a:p>
            <a:pPr lvl="1" indent="-283210"/>
            <a:r>
              <a:rPr lang="en-US"/>
              <a:t>Improving Employee Experience and Health</a:t>
            </a:r>
          </a:p>
          <a:p>
            <a:pPr lvl="1" indent="-283210"/>
            <a:endParaRPr lang="en-US"/>
          </a:p>
          <a:p>
            <a:pPr lvl="1" indent="-283210"/>
            <a:endParaRPr lang="en-US"/>
          </a:p>
          <a:p>
            <a:pPr lvl="2" indent="-283210">
              <a:buFont typeface="Wingdings" panose="020B0604020202020204" pitchFamily="34" charset="0"/>
              <a:buChar char="§"/>
            </a:pPr>
            <a:endParaRPr lang="en-US"/>
          </a:p>
        </p:txBody>
      </p:sp>
      <p:pic>
        <p:nvPicPr>
          <p:cNvPr id="4" name="tri-quad aims">
            <a:hlinkClick r:id="" action="ppaction://media"/>
            <a:extLst>
              <a:ext uri="{FF2B5EF4-FFF2-40B4-BE49-F238E27FC236}">
                <a16:creationId xmlns:a16="http://schemas.microsoft.com/office/drawing/2014/main" id="{51503C1E-99E9-B2FF-7620-32C9EC1F75F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50677" y="498962"/>
            <a:ext cx="487363" cy="487363"/>
          </a:xfrm>
          <a:prstGeom prst="rect">
            <a:avLst/>
          </a:prstGeom>
        </p:spPr>
      </p:pic>
    </p:spTree>
    <p:extLst>
      <p:ext uri="{BB962C8B-B14F-4D97-AF65-F5344CB8AC3E}">
        <p14:creationId xmlns:p14="http://schemas.microsoft.com/office/powerpoint/2010/main" val="4148383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604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C76F9-F5CB-FE5A-FC47-AD430170D3F1}"/>
              </a:ext>
            </a:extLst>
          </p:cNvPr>
          <p:cNvSpPr>
            <a:spLocks noGrp="1"/>
          </p:cNvSpPr>
          <p:nvPr>
            <p:ph type="title"/>
          </p:nvPr>
        </p:nvSpPr>
        <p:spPr>
          <a:xfrm>
            <a:off x="594360" y="198408"/>
            <a:ext cx="10972800" cy="1574317"/>
          </a:xfrm>
        </p:spPr>
        <p:txBody>
          <a:bodyPr anchor="b">
            <a:normAutofit/>
          </a:bodyPr>
          <a:lstStyle/>
          <a:p>
            <a:r>
              <a:rPr lang="en-US"/>
              <a:t>Example of Teleradiology Workflow </a:t>
            </a:r>
          </a:p>
        </p:txBody>
      </p:sp>
      <p:pic>
        <p:nvPicPr>
          <p:cNvPr id="1026" name="Picture 2" descr="Teleradiology- Spearheading Revolution in Medical Technology">
            <a:extLst>
              <a:ext uri="{FF2B5EF4-FFF2-40B4-BE49-F238E27FC236}">
                <a16:creationId xmlns:a16="http://schemas.microsoft.com/office/drawing/2014/main" id="{E5D918FE-AD88-86FB-541C-830D1E2A98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8" t="476" r="1059" b="1035"/>
          <a:stretch/>
        </p:blipFill>
        <p:spPr bwMode="auto">
          <a:xfrm>
            <a:off x="1471961" y="2631688"/>
            <a:ext cx="8623610" cy="3612995"/>
          </a:xfrm>
          <a:prstGeom prst="rect">
            <a:avLst/>
          </a:prstGeom>
          <a:solidFill>
            <a:srgbClr val="FFFFFF"/>
          </a:solidFill>
        </p:spPr>
      </p:pic>
      <p:sp>
        <p:nvSpPr>
          <p:cNvPr id="4" name="Rectangle 3">
            <a:extLst>
              <a:ext uri="{FF2B5EF4-FFF2-40B4-BE49-F238E27FC236}">
                <a16:creationId xmlns:a16="http://schemas.microsoft.com/office/drawing/2014/main" id="{3CB9F932-62F2-DDD9-4D7D-1186060471A5}"/>
              </a:ext>
            </a:extLst>
          </p:cNvPr>
          <p:cNvSpPr/>
          <p:nvPr/>
        </p:nvSpPr>
        <p:spPr>
          <a:xfrm>
            <a:off x="1561171" y="6029093"/>
            <a:ext cx="1977483" cy="21559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50C27CD-A4E0-EC33-77D4-FC7C2C9D2C7F}"/>
              </a:ext>
            </a:extLst>
          </p:cNvPr>
          <p:cNvSpPr/>
          <p:nvPr/>
        </p:nvSpPr>
        <p:spPr>
          <a:xfrm>
            <a:off x="3728225" y="2364060"/>
            <a:ext cx="4352692" cy="9144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33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BF12-BC5C-56F6-AF92-DEA41063C2B9}"/>
              </a:ext>
            </a:extLst>
          </p:cNvPr>
          <p:cNvSpPr>
            <a:spLocks noGrp="1"/>
          </p:cNvSpPr>
          <p:nvPr>
            <p:ph type="title"/>
          </p:nvPr>
        </p:nvSpPr>
        <p:spPr/>
        <p:txBody>
          <a:bodyPr/>
          <a:lstStyle/>
          <a:p>
            <a:r>
              <a:rPr lang="en-US"/>
              <a:t>Case Study #1</a:t>
            </a:r>
          </a:p>
        </p:txBody>
      </p:sp>
      <p:sp>
        <p:nvSpPr>
          <p:cNvPr id="3" name="Content Placeholder 2">
            <a:extLst>
              <a:ext uri="{FF2B5EF4-FFF2-40B4-BE49-F238E27FC236}">
                <a16:creationId xmlns:a16="http://schemas.microsoft.com/office/drawing/2014/main" id="{A1534ED2-7D46-0688-B61D-5464430DDE68}"/>
              </a:ext>
            </a:extLst>
          </p:cNvPr>
          <p:cNvSpPr>
            <a:spLocks noGrp="1"/>
          </p:cNvSpPr>
          <p:nvPr>
            <p:ph sz="quarter" idx="13"/>
          </p:nvPr>
        </p:nvSpPr>
        <p:spPr>
          <a:xfrm>
            <a:off x="390524" y="2147380"/>
            <a:ext cx="7335493" cy="4164517"/>
          </a:xfrm>
        </p:spPr>
        <p:txBody>
          <a:bodyPr vert="horz" lIns="0" tIns="228600" rIns="0" bIns="0" rtlCol="0" anchor="t">
            <a:normAutofit/>
          </a:bodyPr>
          <a:lstStyle/>
          <a:p>
            <a:pPr marL="285750" indent="-285750">
              <a:lnSpc>
                <a:spcPct val="100000"/>
              </a:lnSpc>
            </a:pPr>
            <a:r>
              <a:rPr lang="en-US">
                <a:solidFill>
                  <a:schemeClr val="bg1"/>
                </a:solidFill>
              </a:rPr>
              <a:t>24-hour Onboard Hospital (cruise ship) </a:t>
            </a:r>
            <a:r>
              <a:rPr lang="en-US" b="0">
                <a:solidFill>
                  <a:schemeClr val="bg1"/>
                </a:solidFill>
              </a:rPr>
              <a:t>(</a:t>
            </a:r>
            <a:r>
              <a:rPr lang="en-US" b="0" err="1">
                <a:solidFill>
                  <a:schemeClr val="bg1"/>
                </a:solidFill>
              </a:rPr>
              <a:t>Henes</a:t>
            </a:r>
            <a:r>
              <a:rPr lang="en-US" b="0">
                <a:solidFill>
                  <a:schemeClr val="bg1"/>
                </a:solidFill>
              </a:rPr>
              <a:t> et al., 2020)</a:t>
            </a:r>
          </a:p>
          <a:p>
            <a:pPr marL="688340" lvl="1" indent="-283210">
              <a:lnSpc>
                <a:spcPct val="100000"/>
              </a:lnSpc>
              <a:buFont typeface="Courier New" panose="020B0604020202020204" pitchFamily="34" charset="0"/>
              <a:buChar char="o"/>
            </a:pPr>
            <a:r>
              <a:rPr lang="en-US" sz="1800"/>
              <a:t>Secure data transfer through use of VPN's</a:t>
            </a:r>
          </a:p>
          <a:p>
            <a:pPr marL="688340" lvl="1" indent="-283210">
              <a:lnSpc>
                <a:spcPct val="100000"/>
              </a:lnSpc>
              <a:buFont typeface="Courier New" panose="020B0604020202020204" pitchFamily="34" charset="0"/>
              <a:buChar char="o"/>
            </a:pPr>
            <a:r>
              <a:rPr lang="en-US" sz="1800"/>
              <a:t>Equipped with a mobile radiography unit and digital storage imaging plates</a:t>
            </a:r>
          </a:p>
          <a:p>
            <a:pPr marL="285750" indent="-285750">
              <a:lnSpc>
                <a:spcPct val="100000"/>
              </a:lnSpc>
              <a:buFont typeface="Arial"/>
              <a:buChar char="•"/>
            </a:pPr>
            <a:r>
              <a:rPr lang="en-US">
                <a:solidFill>
                  <a:schemeClr val="bg1"/>
                </a:solidFill>
                <a:latin typeface="Franklin Gothic Book"/>
                <a:cs typeface="Arial"/>
              </a:rPr>
              <a:t>Outcomes:</a:t>
            </a:r>
            <a:endParaRPr lang="en-US" b="0">
              <a:solidFill>
                <a:schemeClr val="bg1"/>
              </a:solidFill>
              <a:latin typeface="Franklin Gothic Book"/>
              <a:cs typeface="Arial"/>
            </a:endParaRPr>
          </a:p>
          <a:p>
            <a:pPr marL="690880" lvl="1" indent="-285750">
              <a:lnSpc>
                <a:spcPct val="100000"/>
              </a:lnSpc>
              <a:buFont typeface="Courier New" panose="020B0604020202020204" pitchFamily="34" charset="0"/>
              <a:buChar char="o"/>
            </a:pPr>
            <a:r>
              <a:rPr lang="en-US" sz="1800"/>
              <a:t>Turnaround time: ~30 minutes </a:t>
            </a:r>
          </a:p>
          <a:p>
            <a:pPr marL="688340" lvl="1" indent="-285750">
              <a:lnSpc>
                <a:spcPct val="100000"/>
              </a:lnSpc>
              <a:buFont typeface="Courier New" panose="020B0604020202020204" pitchFamily="34" charset="0"/>
              <a:buChar char="o"/>
            </a:pPr>
            <a:r>
              <a:rPr lang="en-US" sz="1800"/>
              <a:t>47 Successful transmissions </a:t>
            </a:r>
          </a:p>
          <a:p>
            <a:pPr marL="688340" lvl="1" indent="-285750">
              <a:lnSpc>
                <a:spcPct val="100000"/>
              </a:lnSpc>
              <a:buFont typeface="Courier New" panose="020B0604020202020204" pitchFamily="34" charset="0"/>
              <a:buChar char="o"/>
            </a:pPr>
            <a:r>
              <a:rPr lang="en-US" sz="1800"/>
              <a:t>High-standard interpretation of radiographs </a:t>
            </a:r>
          </a:p>
        </p:txBody>
      </p:sp>
      <p:graphicFrame>
        <p:nvGraphicFramePr>
          <p:cNvPr id="5" name="Chart 4">
            <a:extLst>
              <a:ext uri="{FF2B5EF4-FFF2-40B4-BE49-F238E27FC236}">
                <a16:creationId xmlns:a16="http://schemas.microsoft.com/office/drawing/2014/main" id="{9DA55FAF-FBAB-8FBB-0C5D-41B931E0590C}"/>
              </a:ext>
            </a:extLst>
          </p:cNvPr>
          <p:cNvGraphicFramePr/>
          <p:nvPr>
            <p:extLst>
              <p:ext uri="{D42A27DB-BD31-4B8C-83A1-F6EECF244321}">
                <p14:modId xmlns:p14="http://schemas.microsoft.com/office/powerpoint/2010/main" val="368618654"/>
              </p:ext>
            </p:extLst>
          </p:nvPr>
        </p:nvGraphicFramePr>
        <p:xfrm>
          <a:off x="8196495" y="3429000"/>
          <a:ext cx="3604981" cy="3239428"/>
        </p:xfrm>
        <a:graphic>
          <a:graphicData uri="http://schemas.openxmlformats.org/drawingml/2006/chart">
            <c:chart xmlns:c="http://schemas.openxmlformats.org/drawingml/2006/chart" xmlns:r="http://schemas.openxmlformats.org/officeDocument/2006/relationships" r:id="rId5"/>
          </a:graphicData>
        </a:graphic>
      </p:graphicFrame>
      <p:pic>
        <p:nvPicPr>
          <p:cNvPr id="4" name="New Recording 4">
            <a:hlinkClick r:id="" action="ppaction://media"/>
            <a:extLst>
              <a:ext uri="{FF2B5EF4-FFF2-40B4-BE49-F238E27FC236}">
                <a16:creationId xmlns:a16="http://schemas.microsoft.com/office/drawing/2014/main" id="{935CEB18-B47D-A486-F186-24C5353EA46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38724" y="188403"/>
            <a:ext cx="730250" cy="730250"/>
          </a:xfrm>
          <a:prstGeom prst="rect">
            <a:avLst/>
          </a:prstGeom>
        </p:spPr>
      </p:pic>
    </p:spTree>
    <p:extLst>
      <p:ext uri="{BB962C8B-B14F-4D97-AF65-F5344CB8AC3E}">
        <p14:creationId xmlns:p14="http://schemas.microsoft.com/office/powerpoint/2010/main" val="18603466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2796"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E98EE-E58D-8E8C-153A-B6538A52D35C}"/>
              </a:ext>
            </a:extLst>
          </p:cNvPr>
          <p:cNvSpPr>
            <a:spLocks noGrp="1"/>
          </p:cNvSpPr>
          <p:nvPr>
            <p:ph type="title"/>
          </p:nvPr>
        </p:nvSpPr>
        <p:spPr/>
        <p:txBody>
          <a:bodyPr/>
          <a:lstStyle/>
          <a:p>
            <a:r>
              <a:rPr lang="en-US"/>
              <a:t>Case Study #2</a:t>
            </a:r>
          </a:p>
        </p:txBody>
      </p:sp>
      <p:sp>
        <p:nvSpPr>
          <p:cNvPr id="3" name="Content Placeholder 2">
            <a:extLst>
              <a:ext uri="{FF2B5EF4-FFF2-40B4-BE49-F238E27FC236}">
                <a16:creationId xmlns:a16="http://schemas.microsoft.com/office/drawing/2014/main" id="{ACCD78A7-03AA-B92C-9C94-450C5CCBF46D}"/>
              </a:ext>
            </a:extLst>
          </p:cNvPr>
          <p:cNvSpPr>
            <a:spLocks noGrp="1"/>
          </p:cNvSpPr>
          <p:nvPr>
            <p:ph sz="quarter" idx="13"/>
          </p:nvPr>
        </p:nvSpPr>
        <p:spPr>
          <a:xfrm>
            <a:off x="603849" y="2195483"/>
            <a:ext cx="6912998" cy="4662517"/>
          </a:xfrm>
        </p:spPr>
        <p:txBody>
          <a:bodyPr vert="horz" lIns="0" tIns="228600" rIns="0" bIns="0" rtlCol="0" anchor="t">
            <a:normAutofit/>
          </a:bodyPr>
          <a:lstStyle/>
          <a:p>
            <a:pPr marL="283210" indent="-283210">
              <a:lnSpc>
                <a:spcPct val="110000"/>
              </a:lnSpc>
            </a:pPr>
            <a:r>
              <a:rPr lang="en-US">
                <a:solidFill>
                  <a:schemeClr val="bg1"/>
                </a:solidFill>
              </a:rPr>
              <a:t>Kaiser Permanente Southern California medical centers </a:t>
            </a:r>
            <a:r>
              <a:rPr lang="en-US" b="0">
                <a:solidFill>
                  <a:schemeClr val="bg1"/>
                </a:solidFill>
                <a:ea typeface="+mn-lt"/>
                <a:cs typeface="+mn-lt"/>
              </a:rPr>
              <a:t>(Horn et al., 2006)</a:t>
            </a:r>
            <a:r>
              <a:rPr lang="en-US">
                <a:solidFill>
                  <a:schemeClr val="bg1"/>
                </a:solidFill>
              </a:rPr>
              <a:t> </a:t>
            </a:r>
          </a:p>
          <a:p>
            <a:pPr lvl="1" indent="-283210">
              <a:lnSpc>
                <a:spcPct val="110000"/>
              </a:lnSpc>
              <a:buFont typeface="Courier New" panose="020B0604020202020204" pitchFamily="34" charset="0"/>
              <a:buChar char="o"/>
            </a:pPr>
            <a:r>
              <a:rPr lang="en-US" sz="1800"/>
              <a:t>Web application used to monitor workflow and provide reports</a:t>
            </a:r>
          </a:p>
          <a:p>
            <a:pPr lvl="1" indent="-283210">
              <a:lnSpc>
                <a:spcPct val="110000"/>
              </a:lnSpc>
              <a:buFont typeface="Courier New" panose="020B0604020202020204" pitchFamily="34" charset="0"/>
              <a:buChar char="o"/>
            </a:pPr>
            <a:r>
              <a:rPr lang="en-US" sz="1800"/>
              <a:t>Quality monitoring system</a:t>
            </a:r>
          </a:p>
          <a:p>
            <a:pPr marL="283210" indent="-283210">
              <a:lnSpc>
                <a:spcPct val="110000"/>
              </a:lnSpc>
            </a:pPr>
            <a:r>
              <a:rPr lang="en-US">
                <a:solidFill>
                  <a:schemeClr val="bg1"/>
                </a:solidFill>
              </a:rPr>
              <a:t>Outcomes:</a:t>
            </a:r>
          </a:p>
          <a:p>
            <a:pPr lvl="1" indent="-283210">
              <a:lnSpc>
                <a:spcPct val="110000"/>
              </a:lnSpc>
              <a:buFont typeface="Courier New" panose="020B0604020202020204" pitchFamily="34" charset="0"/>
              <a:buChar char="o"/>
            </a:pPr>
            <a:r>
              <a:rPr lang="en-US" sz="1800"/>
              <a:t>High clinician satisfaction with responsiveness</a:t>
            </a:r>
          </a:p>
          <a:p>
            <a:pPr lvl="1" indent="-283210">
              <a:lnSpc>
                <a:spcPct val="110000"/>
              </a:lnSpc>
              <a:buFont typeface="Courier New" panose="020B0604020202020204" pitchFamily="34" charset="0"/>
              <a:buChar char="o"/>
            </a:pPr>
            <a:r>
              <a:rPr lang="en-US" sz="1800"/>
              <a:t>19 minutes between examination and "wet read"</a:t>
            </a:r>
          </a:p>
          <a:p>
            <a:pPr lvl="1" indent="-283210">
              <a:lnSpc>
                <a:spcPct val="110000"/>
              </a:lnSpc>
              <a:buFont typeface="Courier New" panose="020B0604020202020204" pitchFamily="34" charset="0"/>
              <a:buChar char="o"/>
            </a:pPr>
            <a:r>
              <a:rPr lang="en-US" sz="1800"/>
              <a:t>Decrease in delays of after-hour interpretations</a:t>
            </a:r>
          </a:p>
          <a:p>
            <a:pPr lvl="1" indent="-283210">
              <a:lnSpc>
                <a:spcPct val="110000"/>
              </a:lnSpc>
              <a:buFont typeface="Courier New" panose="020B0604020202020204" pitchFamily="34" charset="0"/>
              <a:buChar char="o"/>
            </a:pPr>
            <a:r>
              <a:rPr lang="en-US" sz="1800"/>
              <a:t>Reduction of "callbacks"</a:t>
            </a:r>
          </a:p>
          <a:p>
            <a:pPr marL="283210" indent="-283210"/>
            <a:endParaRPr lang="en-US"/>
          </a:p>
          <a:p>
            <a:pPr marL="283210" indent="-283210"/>
            <a:endParaRPr lang="en-US"/>
          </a:p>
        </p:txBody>
      </p:sp>
      <p:pic>
        <p:nvPicPr>
          <p:cNvPr id="4" name="New Recording 5">
            <a:hlinkClick r:id="" action="ppaction://media"/>
            <a:extLst>
              <a:ext uri="{FF2B5EF4-FFF2-40B4-BE49-F238E27FC236}">
                <a16:creationId xmlns:a16="http://schemas.microsoft.com/office/drawing/2014/main" id="{4A76EEB7-0680-2723-1761-B70B37852E9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38724" y="188403"/>
            <a:ext cx="730250" cy="730250"/>
          </a:xfrm>
          <a:prstGeom prst="rect">
            <a:avLst/>
          </a:prstGeom>
        </p:spPr>
      </p:pic>
    </p:spTree>
    <p:extLst>
      <p:ext uri="{BB962C8B-B14F-4D97-AF65-F5344CB8AC3E}">
        <p14:creationId xmlns:p14="http://schemas.microsoft.com/office/powerpoint/2010/main" val="84731794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0454"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E98EE-E58D-8E8C-153A-B6538A52D35C}"/>
              </a:ext>
            </a:extLst>
          </p:cNvPr>
          <p:cNvSpPr>
            <a:spLocks noGrp="1"/>
          </p:cNvSpPr>
          <p:nvPr>
            <p:ph type="title"/>
          </p:nvPr>
        </p:nvSpPr>
        <p:spPr/>
        <p:txBody>
          <a:bodyPr/>
          <a:lstStyle/>
          <a:p>
            <a:r>
              <a:rPr lang="en-US"/>
              <a:t>Case Study #3 </a:t>
            </a:r>
          </a:p>
        </p:txBody>
      </p:sp>
      <p:sp>
        <p:nvSpPr>
          <p:cNvPr id="3" name="Content Placeholder 2">
            <a:extLst>
              <a:ext uri="{FF2B5EF4-FFF2-40B4-BE49-F238E27FC236}">
                <a16:creationId xmlns:a16="http://schemas.microsoft.com/office/drawing/2014/main" id="{ACCD78A7-03AA-B92C-9C94-450C5CCBF46D}"/>
              </a:ext>
            </a:extLst>
          </p:cNvPr>
          <p:cNvSpPr>
            <a:spLocks noGrp="1"/>
          </p:cNvSpPr>
          <p:nvPr>
            <p:ph sz="quarter" idx="13"/>
          </p:nvPr>
        </p:nvSpPr>
        <p:spPr>
          <a:xfrm>
            <a:off x="594361" y="2195483"/>
            <a:ext cx="6873240" cy="4662517"/>
          </a:xfrm>
        </p:spPr>
        <p:txBody>
          <a:bodyPr vert="horz" lIns="0" tIns="228600" rIns="0" bIns="0" rtlCol="0" anchor="t">
            <a:normAutofit/>
          </a:bodyPr>
          <a:lstStyle/>
          <a:p>
            <a:pPr marL="283210" indent="-283210">
              <a:lnSpc>
                <a:spcPct val="100000"/>
              </a:lnSpc>
            </a:pPr>
            <a:r>
              <a:rPr lang="en-US">
                <a:solidFill>
                  <a:schemeClr val="bg1"/>
                </a:solidFill>
              </a:rPr>
              <a:t>Rural Arizona Hospitals connecting to University of Arizona’s Telemedicine Department </a:t>
            </a:r>
            <a:r>
              <a:rPr lang="en-US" b="0">
                <a:solidFill>
                  <a:schemeClr val="bg1"/>
                </a:solidFill>
              </a:rPr>
              <a:t>(</a:t>
            </a:r>
            <a:r>
              <a:rPr lang="en-US" b="0" err="1">
                <a:solidFill>
                  <a:schemeClr val="bg1"/>
                </a:solidFill>
                <a:ea typeface="+mn-lt"/>
                <a:cs typeface="+mn-lt"/>
              </a:rPr>
              <a:t>Krupiński</a:t>
            </a:r>
            <a:r>
              <a:rPr lang="en-US" b="0">
                <a:solidFill>
                  <a:schemeClr val="bg1"/>
                </a:solidFill>
                <a:ea typeface="+mn-lt"/>
                <a:cs typeface="+mn-lt"/>
              </a:rPr>
              <a:t> &amp; Hopper, 1997)</a:t>
            </a:r>
            <a:endParaRPr lang="en-US">
              <a:solidFill>
                <a:schemeClr val="bg1"/>
              </a:solidFill>
            </a:endParaRPr>
          </a:p>
          <a:p>
            <a:pPr lvl="1" indent="-283210">
              <a:lnSpc>
                <a:spcPct val="100000"/>
              </a:lnSpc>
              <a:buFont typeface="Courier New" panose="020B0604020202020204" pitchFamily="34" charset="0"/>
              <a:buChar char="o"/>
            </a:pPr>
            <a:r>
              <a:rPr lang="en-US" sz="1800"/>
              <a:t>IBM compatible capture and send workstation</a:t>
            </a:r>
          </a:p>
          <a:p>
            <a:pPr lvl="1" indent="-283210">
              <a:lnSpc>
                <a:spcPct val="100000"/>
              </a:lnSpc>
              <a:buFont typeface="Courier New" panose="020B0604020202020204" pitchFamily="34" charset="0"/>
              <a:buChar char="o"/>
            </a:pPr>
            <a:r>
              <a:rPr lang="en-US" sz="1800"/>
              <a:t>50-micron spots size digitizer</a:t>
            </a:r>
          </a:p>
          <a:p>
            <a:pPr marL="283210" indent="-283210">
              <a:lnSpc>
                <a:spcPct val="100000"/>
              </a:lnSpc>
            </a:pPr>
            <a:r>
              <a:rPr lang="en-US">
                <a:solidFill>
                  <a:schemeClr val="bg1"/>
                </a:solidFill>
              </a:rPr>
              <a:t>Outcomes:</a:t>
            </a:r>
          </a:p>
          <a:p>
            <a:pPr lvl="1" indent="-283210">
              <a:lnSpc>
                <a:spcPct val="100000"/>
              </a:lnSpc>
              <a:buFont typeface="Courier New" panose="020B0604020202020204" pitchFamily="34" charset="0"/>
              <a:buChar char="o"/>
            </a:pPr>
            <a:r>
              <a:rPr lang="en-US" sz="1800"/>
              <a:t>85% of images in 41 cases deemed good quality</a:t>
            </a:r>
          </a:p>
          <a:p>
            <a:pPr lvl="1" indent="-283210">
              <a:lnSpc>
                <a:spcPct val="100000"/>
              </a:lnSpc>
              <a:buFont typeface="Courier New" panose="020B0604020202020204" pitchFamily="34" charset="0"/>
              <a:buChar char="o"/>
            </a:pPr>
            <a:r>
              <a:rPr lang="en-US" sz="1800">
                <a:solidFill>
                  <a:srgbClr val="000000"/>
                </a:solidFill>
              </a:rPr>
              <a:t>95% of diagnostics returned in timely manner</a:t>
            </a:r>
          </a:p>
          <a:p>
            <a:pPr lvl="1" indent="-283210">
              <a:lnSpc>
                <a:spcPct val="100000"/>
              </a:lnSpc>
              <a:buFont typeface="Courier New" panose="020B0604020202020204" pitchFamily="34" charset="0"/>
              <a:buChar char="o"/>
            </a:pPr>
            <a:r>
              <a:rPr lang="en-US" sz="1800">
                <a:solidFill>
                  <a:srgbClr val="000000"/>
                </a:solidFill>
              </a:rPr>
              <a:t>Reduced cost of high-quality care for patients</a:t>
            </a:r>
          </a:p>
          <a:p>
            <a:pPr lvl="1" indent="-283210">
              <a:lnSpc>
                <a:spcPct val="200000"/>
              </a:lnSpc>
              <a:buFont typeface="Courier New" panose="020B0604020202020204" pitchFamily="34" charset="0"/>
              <a:buChar char="o"/>
            </a:pPr>
            <a:endParaRPr lang="en-US" sz="1500">
              <a:solidFill>
                <a:srgbClr val="000000"/>
              </a:solidFill>
            </a:endParaRPr>
          </a:p>
          <a:p>
            <a:pPr marL="283210" indent="-283210"/>
            <a:endParaRPr lang="en-US"/>
          </a:p>
          <a:p>
            <a:pPr marL="283210" indent="-283210"/>
            <a:endParaRPr lang="en-US"/>
          </a:p>
        </p:txBody>
      </p:sp>
      <p:graphicFrame>
        <p:nvGraphicFramePr>
          <p:cNvPr id="4" name="Table 3">
            <a:extLst>
              <a:ext uri="{FF2B5EF4-FFF2-40B4-BE49-F238E27FC236}">
                <a16:creationId xmlns:a16="http://schemas.microsoft.com/office/drawing/2014/main" id="{67E4C42C-5019-CD31-D410-4D51DD8F144B}"/>
              </a:ext>
            </a:extLst>
          </p:cNvPr>
          <p:cNvGraphicFramePr>
            <a:graphicFrameLocks noGrp="1"/>
          </p:cNvGraphicFramePr>
          <p:nvPr>
            <p:extLst>
              <p:ext uri="{D42A27DB-BD31-4B8C-83A1-F6EECF244321}">
                <p14:modId xmlns:p14="http://schemas.microsoft.com/office/powerpoint/2010/main" val="2429834974"/>
              </p:ext>
            </p:extLst>
          </p:nvPr>
        </p:nvGraphicFramePr>
        <p:xfrm>
          <a:off x="6432990" y="4526741"/>
          <a:ext cx="5418666" cy="1554480"/>
        </p:xfrm>
        <a:graphic>
          <a:graphicData uri="http://schemas.openxmlformats.org/drawingml/2006/table">
            <a:tbl>
              <a:tblPr firstRow="1" bandRow="1">
                <a:tableStyleId>{8A107856-5554-42FB-B03E-39F5DBC370BA}</a:tableStyleId>
              </a:tblPr>
              <a:tblGrid>
                <a:gridCol w="2709333">
                  <a:extLst>
                    <a:ext uri="{9D8B030D-6E8A-4147-A177-3AD203B41FA5}">
                      <a16:colId xmlns:a16="http://schemas.microsoft.com/office/drawing/2014/main" val="371586086"/>
                    </a:ext>
                  </a:extLst>
                </a:gridCol>
                <a:gridCol w="2709333">
                  <a:extLst>
                    <a:ext uri="{9D8B030D-6E8A-4147-A177-3AD203B41FA5}">
                      <a16:colId xmlns:a16="http://schemas.microsoft.com/office/drawing/2014/main" val="3008451131"/>
                    </a:ext>
                  </a:extLst>
                </a:gridCol>
              </a:tblGrid>
              <a:tr h="624840">
                <a:tc>
                  <a:txBody>
                    <a:bodyPr/>
                    <a:lstStyle/>
                    <a:p>
                      <a:pPr algn="ctr"/>
                      <a:r>
                        <a:rPr lang="en-US"/>
                        <a:t>Triple Aim Outcomes Achieved:</a:t>
                      </a:r>
                    </a:p>
                  </a:txBody>
                  <a:tcPr/>
                </a:tc>
                <a:tc>
                  <a:txBody>
                    <a:bodyPr/>
                    <a:lstStyle/>
                    <a:p>
                      <a:pPr algn="ctr"/>
                      <a:r>
                        <a:rPr lang="en-US"/>
                        <a:t>Quadruple Aim Outcomes Achieved:</a:t>
                      </a:r>
                    </a:p>
                  </a:txBody>
                  <a:tcPr/>
                </a:tc>
                <a:extLst>
                  <a:ext uri="{0D108BD9-81ED-4DB2-BD59-A6C34878D82A}">
                    <a16:rowId xmlns:a16="http://schemas.microsoft.com/office/drawing/2014/main" val="4016955434"/>
                  </a:ext>
                </a:extLst>
              </a:tr>
              <a:tr h="624840">
                <a:tc>
                  <a:txBody>
                    <a:bodyPr/>
                    <a:lstStyle/>
                    <a:p>
                      <a:pPr algn="ctr"/>
                      <a:r>
                        <a:rPr lang="en-US">
                          <a:ea typeface="+mn-lt"/>
                          <a:cs typeface="+mn-lt"/>
                        </a:rPr>
                        <a:t>Improving Patient Experience of Care </a:t>
                      </a: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Improving Health Care Provider Experience  </a:t>
                      </a:r>
                    </a:p>
                    <a:p>
                      <a:endParaRPr lang="en-US"/>
                    </a:p>
                  </a:txBody>
                  <a:tcPr/>
                </a:tc>
                <a:extLst>
                  <a:ext uri="{0D108BD9-81ED-4DB2-BD59-A6C34878D82A}">
                    <a16:rowId xmlns:a16="http://schemas.microsoft.com/office/drawing/2014/main" val="903986755"/>
                  </a:ext>
                </a:extLst>
              </a:tr>
            </a:tbl>
          </a:graphicData>
        </a:graphic>
      </p:graphicFrame>
      <p:pic>
        <p:nvPicPr>
          <p:cNvPr id="5" name="New Recording 6">
            <a:hlinkClick r:id="" action="ppaction://media"/>
            <a:extLst>
              <a:ext uri="{FF2B5EF4-FFF2-40B4-BE49-F238E27FC236}">
                <a16:creationId xmlns:a16="http://schemas.microsoft.com/office/drawing/2014/main" id="{933CC4F9-2F97-F6BA-E616-A1DC904CAC4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38724" y="188404"/>
            <a:ext cx="730250" cy="730250"/>
          </a:xfrm>
          <a:prstGeom prst="rect">
            <a:avLst/>
          </a:prstGeom>
        </p:spPr>
      </p:pic>
    </p:spTree>
    <p:extLst>
      <p:ext uri="{BB962C8B-B14F-4D97-AF65-F5344CB8AC3E}">
        <p14:creationId xmlns:p14="http://schemas.microsoft.com/office/powerpoint/2010/main" val="13410502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nextCondLst>
                <p:cond evt="onClick" delay="0">
                  <p:tgtEl>
                    <p:spTgt spid="5"/>
                  </p:tgtEl>
                </p:cond>
              </p:nextCondLst>
            </p:seq>
            <p:audio>
              <p:cMediaNode>
                <p:cTn id="7" fill="hold" display="0">
                  <p:stCondLst>
                    <p:cond delay="indefinite"/>
                  </p:stCondLst>
                  <p:endCondLst>
                    <p:cond evt="onStopAudio" delay="0">
                      <p:tgtEl>
                        <p:sldTgt/>
                      </p:tgtEl>
                    </p:cond>
                  </p:endCondLst>
                </p:cTn>
                <p:tgtEl>
                  <p:spTgt spid="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AD69A-809A-F371-41EA-5586CD1324F6}"/>
              </a:ext>
            </a:extLst>
          </p:cNvPr>
          <p:cNvSpPr>
            <a:spLocks noGrp="1"/>
          </p:cNvSpPr>
          <p:nvPr>
            <p:ph type="title"/>
          </p:nvPr>
        </p:nvSpPr>
        <p:spPr/>
        <p:txBody>
          <a:bodyPr/>
          <a:lstStyle/>
          <a:p>
            <a:r>
              <a:rPr lang="en-US"/>
              <a:t>Teleradiology Company #1</a:t>
            </a:r>
          </a:p>
        </p:txBody>
      </p:sp>
      <p:sp>
        <p:nvSpPr>
          <p:cNvPr id="3" name="Content Placeholder 2">
            <a:extLst>
              <a:ext uri="{FF2B5EF4-FFF2-40B4-BE49-F238E27FC236}">
                <a16:creationId xmlns:a16="http://schemas.microsoft.com/office/drawing/2014/main" id="{6DC97CFC-6454-FF9B-D6E7-3EDC56571A8A}"/>
              </a:ext>
            </a:extLst>
          </p:cNvPr>
          <p:cNvSpPr>
            <a:spLocks noGrp="1"/>
          </p:cNvSpPr>
          <p:nvPr>
            <p:ph sz="quarter" idx="13"/>
          </p:nvPr>
        </p:nvSpPr>
        <p:spPr>
          <a:xfrm>
            <a:off x="594359" y="2281918"/>
            <a:ext cx="7045519" cy="3708517"/>
          </a:xfrm>
        </p:spPr>
        <p:txBody>
          <a:bodyPr vert="horz" lIns="0" tIns="228600" rIns="0" bIns="0" rtlCol="0" anchor="t">
            <a:normAutofit fontScale="85000" lnSpcReduction="20000"/>
          </a:bodyPr>
          <a:lstStyle/>
          <a:p>
            <a:pPr marL="283210" indent="-283210"/>
            <a:r>
              <a:rPr lang="en-US" sz="2800"/>
              <a:t>Infinity Teleradiology </a:t>
            </a:r>
          </a:p>
          <a:p>
            <a:pPr lvl="1" indent="-283210">
              <a:buFont typeface="Courier New" panose="020B0604020202020204" pitchFamily="34" charset="0"/>
              <a:buChar char="o"/>
            </a:pPr>
            <a:r>
              <a:rPr lang="en-US"/>
              <a:t>Company's goal is to supply imaging solutions that satisfies provider and patient needs. They aim to always improve their technology and continue to give the best imaging in health care history.</a:t>
            </a:r>
          </a:p>
          <a:p>
            <a:pPr lvl="1" indent="-283210">
              <a:buFont typeface="Courier New" panose="020B0604020202020204" pitchFamily="34" charset="0"/>
              <a:buChar char="o"/>
            </a:pPr>
            <a:r>
              <a:rPr lang="en-US"/>
              <a:t>Services provided to meet customer needs:</a:t>
            </a:r>
          </a:p>
          <a:p>
            <a:pPr lvl="2" indent="-283210">
              <a:buFont typeface="Wingdings" panose="020B0604020202020204" pitchFamily="34" charset="0"/>
              <a:buChar char="§"/>
            </a:pPr>
            <a:r>
              <a:rPr lang="en-US"/>
              <a:t>Mammograms, x-rays, CT-scans, nuclear medicine</a:t>
            </a:r>
          </a:p>
          <a:p>
            <a:pPr lvl="2" indent="-283210">
              <a:buFont typeface="Wingdings" panose="020B0604020202020204" pitchFamily="34" charset="0"/>
              <a:buChar char="§"/>
            </a:pPr>
            <a:r>
              <a:rPr lang="en-US"/>
              <a:t>Concierge Interpretation</a:t>
            </a:r>
          </a:p>
          <a:p>
            <a:pPr lvl="2" indent="-283210">
              <a:buFont typeface="Wingdings" panose="020B0604020202020204" pitchFamily="34" charset="0"/>
              <a:buChar char="§"/>
            </a:pPr>
            <a:r>
              <a:rPr lang="en-US"/>
              <a:t>Sub-Specialty Radiology Services</a:t>
            </a:r>
          </a:p>
          <a:p>
            <a:pPr lvl="2" indent="-283210">
              <a:buFont typeface="Wingdings" panose="020B0604020202020204" pitchFamily="34" charset="0"/>
              <a:buChar char="§"/>
            </a:pPr>
            <a:r>
              <a:rPr lang="en-US" sz="1800">
                <a:ea typeface="+mn-lt"/>
                <a:cs typeface="+mn-lt"/>
              </a:rPr>
              <a:t>IT Solutions such as Radiology Interpretive Services, Teleradiology Customizable PACS , Credentialing and State Licensing, Compliance and Practice Management</a:t>
            </a:r>
            <a:endParaRPr lang="en-US" sz="1800"/>
          </a:p>
          <a:p>
            <a:pPr lvl="2" indent="-283210">
              <a:buFont typeface="Wingdings" panose="020B0604020202020204" pitchFamily="34" charset="0"/>
              <a:buChar char="§"/>
            </a:pPr>
            <a:r>
              <a:rPr lang="en-US" sz="1800"/>
              <a:t>Billing w/ rates and payment plans and IT solutions</a:t>
            </a:r>
          </a:p>
          <a:p>
            <a:pPr lvl="2" indent="-283210">
              <a:buFont typeface="Wingdings" panose="020B0604020202020204" pitchFamily="34" charset="0"/>
              <a:buChar char="§"/>
            </a:pPr>
            <a:endParaRPr lang="en-US" b="1">
              <a:solidFill>
                <a:srgbClr val="5D7D40"/>
              </a:solidFill>
            </a:endParaRPr>
          </a:p>
        </p:txBody>
      </p:sp>
      <p:pic>
        <p:nvPicPr>
          <p:cNvPr id="4" name="Rocky Cir">
            <a:hlinkClick r:id="" action="ppaction://media"/>
            <a:extLst>
              <a:ext uri="{FF2B5EF4-FFF2-40B4-BE49-F238E27FC236}">
                <a16:creationId xmlns:a16="http://schemas.microsoft.com/office/drawing/2014/main" id="{0C83A70B-CCBE-C460-6ECF-2B62E1501BE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229234" y="256075"/>
            <a:ext cx="730250" cy="730250"/>
          </a:xfrm>
          <a:prstGeom prst="rect">
            <a:avLst/>
          </a:prstGeom>
        </p:spPr>
      </p:pic>
      <p:pic>
        <p:nvPicPr>
          <p:cNvPr id="5" name="Picture 4">
            <a:extLst>
              <a:ext uri="{FF2B5EF4-FFF2-40B4-BE49-F238E27FC236}">
                <a16:creationId xmlns:a16="http://schemas.microsoft.com/office/drawing/2014/main" id="{6FEFC719-64F7-8B5F-2A0D-874CBA65A0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2107" y="5316279"/>
            <a:ext cx="4339216" cy="1541721"/>
          </a:xfrm>
          <a:prstGeom prst="rect">
            <a:avLst/>
          </a:prstGeom>
        </p:spPr>
      </p:pic>
      <p:pic>
        <p:nvPicPr>
          <p:cNvPr id="6" name="Picture 5">
            <a:extLst>
              <a:ext uri="{FF2B5EF4-FFF2-40B4-BE49-F238E27FC236}">
                <a16:creationId xmlns:a16="http://schemas.microsoft.com/office/drawing/2014/main" id="{80AED0A1-F3A5-3882-8D08-57D4ECB659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8852" y="3429000"/>
            <a:ext cx="3768789" cy="1541721"/>
          </a:xfrm>
          <a:prstGeom prst="rect">
            <a:avLst/>
          </a:prstGeom>
        </p:spPr>
      </p:pic>
    </p:spTree>
    <p:extLst>
      <p:ext uri="{BB962C8B-B14F-4D97-AF65-F5344CB8AC3E}">
        <p14:creationId xmlns:p14="http://schemas.microsoft.com/office/powerpoint/2010/main" val="22959375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7600"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31CD-DE4D-4852-C64A-9EF41BB07797}"/>
              </a:ext>
            </a:extLst>
          </p:cNvPr>
          <p:cNvSpPr>
            <a:spLocks noGrp="1"/>
          </p:cNvSpPr>
          <p:nvPr>
            <p:ph type="title"/>
          </p:nvPr>
        </p:nvSpPr>
        <p:spPr/>
        <p:txBody>
          <a:bodyPr/>
          <a:lstStyle/>
          <a:p>
            <a:r>
              <a:rPr lang="en-US"/>
              <a:t>Teleradiology Company #2</a:t>
            </a:r>
          </a:p>
        </p:txBody>
      </p:sp>
      <p:sp>
        <p:nvSpPr>
          <p:cNvPr id="3" name="Content Placeholder 2">
            <a:extLst>
              <a:ext uri="{FF2B5EF4-FFF2-40B4-BE49-F238E27FC236}">
                <a16:creationId xmlns:a16="http://schemas.microsoft.com/office/drawing/2014/main" id="{18B55868-45DA-E05F-D8CC-8D09BE9043CF}"/>
              </a:ext>
            </a:extLst>
          </p:cNvPr>
          <p:cNvSpPr>
            <a:spLocks noGrp="1"/>
          </p:cNvSpPr>
          <p:nvPr>
            <p:ph sz="quarter" idx="13"/>
          </p:nvPr>
        </p:nvSpPr>
        <p:spPr/>
        <p:txBody>
          <a:bodyPr vert="horz" lIns="0" tIns="228600" rIns="0" bIns="0" rtlCol="0" anchor="t">
            <a:normAutofit fontScale="85000" lnSpcReduction="20000"/>
          </a:bodyPr>
          <a:lstStyle/>
          <a:p>
            <a:pPr marL="283210" indent="-283210"/>
            <a:r>
              <a:rPr lang="en-US" sz="2800"/>
              <a:t>Night Hawk Radiology</a:t>
            </a:r>
          </a:p>
          <a:p>
            <a:pPr marL="402590" lvl="1" indent="0">
              <a:buNone/>
            </a:pPr>
            <a:r>
              <a:rPr lang="en-US"/>
              <a:t>Devoted to providing quality service at reduced cost 24/7 </a:t>
            </a:r>
          </a:p>
          <a:p>
            <a:pPr lvl="2" indent="-283210">
              <a:buFont typeface="Wingdings" panose="020B0604020202020204" pitchFamily="34" charset="0"/>
              <a:buChar char="§"/>
            </a:pPr>
            <a:r>
              <a:rPr lang="en-US"/>
              <a:t>Emergency</a:t>
            </a:r>
          </a:p>
          <a:p>
            <a:pPr lvl="2" indent="-283210">
              <a:buFont typeface="Wingdings" panose="020B0604020202020204" pitchFamily="34" charset="0"/>
              <a:buChar char="§"/>
            </a:pPr>
            <a:r>
              <a:rPr lang="en-US"/>
              <a:t>Musculoskeletal</a:t>
            </a:r>
          </a:p>
          <a:p>
            <a:pPr lvl="2" indent="-283210">
              <a:buFont typeface="Wingdings" panose="020B0604020202020204" pitchFamily="34" charset="0"/>
              <a:buChar char="§"/>
            </a:pPr>
            <a:r>
              <a:rPr lang="en-US"/>
              <a:t>Pediatric</a:t>
            </a:r>
          </a:p>
          <a:p>
            <a:pPr lvl="2" indent="-283210">
              <a:buFont typeface="Wingdings" panose="020B0604020202020204" pitchFamily="34" charset="0"/>
              <a:buChar char="§"/>
            </a:pPr>
            <a:r>
              <a:rPr lang="en-US"/>
              <a:t>Telecardiology</a:t>
            </a:r>
          </a:p>
          <a:p>
            <a:pPr lvl="2" indent="-283210">
              <a:buFont typeface="Wingdings" panose="020B0604020202020204" pitchFamily="34" charset="0"/>
              <a:buChar char="§"/>
            </a:pPr>
            <a:r>
              <a:rPr lang="en-US"/>
              <a:t>Body imaging</a:t>
            </a:r>
          </a:p>
          <a:p>
            <a:pPr lvl="3" indent="-283210"/>
            <a:r>
              <a:rPr lang="en-US"/>
              <a:t>Mammograms</a:t>
            </a:r>
          </a:p>
          <a:p>
            <a:pPr lvl="3" indent="-283210"/>
            <a:r>
              <a:rPr lang="en-US"/>
              <a:t>Neuro</a:t>
            </a:r>
          </a:p>
          <a:p>
            <a:pPr lvl="2" indent="-283210">
              <a:buFont typeface="Wingdings" panose="020B0604020202020204" pitchFamily="34" charset="0"/>
              <a:buChar char="§"/>
            </a:pPr>
            <a:endParaRPr lang="en-US" b="1">
              <a:solidFill>
                <a:srgbClr val="5D7D40"/>
              </a:solidFill>
            </a:endParaRPr>
          </a:p>
          <a:p>
            <a:pPr lvl="2" indent="-283210">
              <a:buFont typeface="Wingdings" panose="020B0604020202020204" pitchFamily="34" charset="0"/>
              <a:buChar char="§"/>
            </a:pPr>
            <a:endParaRPr lang="en-US" b="1">
              <a:solidFill>
                <a:srgbClr val="5D7D40"/>
              </a:solidFill>
            </a:endParaRPr>
          </a:p>
        </p:txBody>
      </p:sp>
      <p:pic>
        <p:nvPicPr>
          <p:cNvPr id="4" name="Rocky Cir 2">
            <a:hlinkClick r:id="" action="ppaction://media"/>
            <a:extLst>
              <a:ext uri="{FF2B5EF4-FFF2-40B4-BE49-F238E27FC236}">
                <a16:creationId xmlns:a16="http://schemas.microsoft.com/office/drawing/2014/main" id="{F6A8417B-8FF3-04EF-E6AA-39ABDC732AF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229234" y="189572"/>
            <a:ext cx="730250" cy="730250"/>
          </a:xfrm>
          <a:prstGeom prst="rect">
            <a:avLst/>
          </a:prstGeom>
        </p:spPr>
      </p:pic>
      <p:pic>
        <p:nvPicPr>
          <p:cNvPr id="5" name="Picture 4">
            <a:extLst>
              <a:ext uri="{FF2B5EF4-FFF2-40B4-BE49-F238E27FC236}">
                <a16:creationId xmlns:a16="http://schemas.microsoft.com/office/drawing/2014/main" id="{52626097-7670-A382-4F28-1FFCBD79D5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03394" y="4136176"/>
            <a:ext cx="6489029" cy="2088081"/>
          </a:xfrm>
          <a:prstGeom prst="rect">
            <a:avLst/>
          </a:prstGeom>
        </p:spPr>
      </p:pic>
    </p:spTree>
    <p:extLst>
      <p:ext uri="{BB962C8B-B14F-4D97-AF65-F5344CB8AC3E}">
        <p14:creationId xmlns:p14="http://schemas.microsoft.com/office/powerpoint/2010/main" val="7102675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0400"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5C250-A7F9-64CD-E93B-6C9D79B88FAD}"/>
              </a:ext>
            </a:extLst>
          </p:cNvPr>
          <p:cNvSpPr>
            <a:spLocks noGrp="1"/>
          </p:cNvSpPr>
          <p:nvPr>
            <p:ph type="title"/>
          </p:nvPr>
        </p:nvSpPr>
        <p:spPr>
          <a:xfrm>
            <a:off x="594360" y="649190"/>
            <a:ext cx="8523136" cy="1494596"/>
          </a:xfrm>
        </p:spPr>
        <p:txBody>
          <a:bodyPr/>
          <a:lstStyle/>
          <a:p>
            <a:r>
              <a:rPr lang="en-US"/>
              <a:t>Differences within each Teleradiology Company</a:t>
            </a:r>
          </a:p>
        </p:txBody>
      </p:sp>
      <p:sp>
        <p:nvSpPr>
          <p:cNvPr id="3" name="Content Placeholder 2">
            <a:extLst>
              <a:ext uri="{FF2B5EF4-FFF2-40B4-BE49-F238E27FC236}">
                <a16:creationId xmlns:a16="http://schemas.microsoft.com/office/drawing/2014/main" id="{DC01CCF8-97E4-B221-9866-E75FB8E94D0E}"/>
              </a:ext>
            </a:extLst>
          </p:cNvPr>
          <p:cNvSpPr>
            <a:spLocks noGrp="1"/>
          </p:cNvSpPr>
          <p:nvPr>
            <p:ph sz="quarter" idx="15"/>
          </p:nvPr>
        </p:nvSpPr>
        <p:spPr>
          <a:xfrm>
            <a:off x="594360" y="2328525"/>
            <a:ext cx="4898666" cy="4072275"/>
          </a:xfrm>
        </p:spPr>
        <p:txBody>
          <a:bodyPr vert="horz" lIns="0" tIns="45720" rIns="0" bIns="0" rtlCol="0" anchor="t">
            <a:normAutofit fontScale="55000" lnSpcReduction="20000"/>
          </a:bodyPr>
          <a:lstStyle/>
          <a:p>
            <a:pPr algn="ctr"/>
            <a:r>
              <a:rPr lang="en-US" sz="3400" b="1">
                <a:solidFill>
                  <a:schemeClr val="tx2">
                    <a:lumMod val="75000"/>
                  </a:schemeClr>
                </a:solidFill>
              </a:rPr>
              <a:t>Infinity</a:t>
            </a:r>
            <a:endParaRPr lang="en-US">
              <a:solidFill>
                <a:schemeClr val="tx2">
                  <a:lumMod val="75000"/>
                </a:schemeClr>
              </a:solidFill>
            </a:endParaRPr>
          </a:p>
          <a:p>
            <a:pPr marL="342900" indent="-342900">
              <a:buChar char="•"/>
            </a:pPr>
            <a:r>
              <a:rPr lang="en-US" sz="2200"/>
              <a:t>The only way you will be able to know more and see exactly what the company provides is by proceeding to receive a quote. However, compared to Night Hawk they have teleradiology services that most companies do not provide all at once and certain rates. Company is a little private which can also ensure no HIPPA violations. </a:t>
            </a:r>
          </a:p>
          <a:p>
            <a:pPr marL="626110" lvl="1" indent="-342900">
              <a:buFont typeface="Courier New" panose="020B0604020202020204" pitchFamily="34" charset="0"/>
              <a:buChar char="o"/>
            </a:pPr>
            <a:r>
              <a:rPr lang="en-US" sz="2200"/>
              <a:t>Top Company for most radiologist.  Has different variations of the company providing different forms of telehealth </a:t>
            </a:r>
          </a:p>
          <a:p>
            <a:pPr marL="626110" lvl="1" indent="-342900">
              <a:buFont typeface="Courier New" panose="020B0604020202020204" pitchFamily="34" charset="0"/>
              <a:buChar char="o"/>
            </a:pPr>
            <a:r>
              <a:rPr lang="en-US" sz="2200"/>
              <a:t>99.6% peer review accuracy rate for their technology with a limited number of licensed physicians </a:t>
            </a:r>
          </a:p>
          <a:p>
            <a:pPr marL="626110" lvl="1" indent="-342900">
              <a:buFont typeface="Courier New" panose="020B0604020202020204" pitchFamily="34" charset="0"/>
              <a:buChar char="o"/>
            </a:pPr>
            <a:r>
              <a:rPr lang="en-US" sz="2200"/>
              <a:t>Trained physicians' part of clinical, evidenced based work and/or studies to better patient and care giver relations and trust in technology.</a:t>
            </a:r>
          </a:p>
          <a:p>
            <a:pPr marL="626110" lvl="1" indent="-342900">
              <a:buFont typeface="Courier New" panose="020B0604020202020204" pitchFamily="34" charset="0"/>
              <a:buChar char="o"/>
            </a:pPr>
            <a:r>
              <a:rPr lang="en-US" sz="2200"/>
              <a:t>Provides Most services most teleradiology companies do not</a:t>
            </a:r>
          </a:p>
          <a:p>
            <a:pPr marL="626110" lvl="1" indent="-342900">
              <a:buFont typeface="Courier New" panose="020B0604020202020204" pitchFamily="34" charset="0"/>
              <a:buChar char="o"/>
            </a:pPr>
            <a:r>
              <a:rPr lang="en-US" sz="2200"/>
              <a:t>Turn-around time is at most 24 hours</a:t>
            </a:r>
          </a:p>
          <a:p>
            <a:pPr marL="626110" lvl="1" indent="-342900">
              <a:buFont typeface="Courier New" panose="020B0604020202020204" pitchFamily="34" charset="0"/>
              <a:buChar char="o"/>
            </a:pPr>
            <a:r>
              <a:rPr lang="en-US" sz="2200"/>
              <a:t>EHR</a:t>
            </a:r>
          </a:p>
          <a:p>
            <a:pPr marL="283210" lvl="1" indent="0">
              <a:buNone/>
            </a:pPr>
            <a:endParaRPr lang="en-US" sz="2100"/>
          </a:p>
          <a:p>
            <a:pPr marL="626110" lvl="1" indent="-342900">
              <a:buFont typeface="Courier New" panose="020B0604020202020204" pitchFamily="34" charset="0"/>
              <a:buChar char="o"/>
            </a:pPr>
            <a:endParaRPr lang="en-US"/>
          </a:p>
          <a:p>
            <a:pPr marL="626110" lvl="1" indent="-342900">
              <a:buFont typeface="Courier New" panose="020B0604020202020204" pitchFamily="34" charset="0"/>
              <a:buChar char="o"/>
            </a:pPr>
            <a:endParaRPr lang="en-US"/>
          </a:p>
          <a:p>
            <a:pPr marL="626110" lvl="1" indent="-342900">
              <a:buFont typeface="Courier New" panose="020B0604020202020204" pitchFamily="34" charset="0"/>
              <a:buChar char="o"/>
            </a:pPr>
            <a:endParaRPr lang="en-US"/>
          </a:p>
        </p:txBody>
      </p:sp>
      <p:sp>
        <p:nvSpPr>
          <p:cNvPr id="4" name="Content Placeholder 3">
            <a:extLst>
              <a:ext uri="{FF2B5EF4-FFF2-40B4-BE49-F238E27FC236}">
                <a16:creationId xmlns:a16="http://schemas.microsoft.com/office/drawing/2014/main" id="{F4ACD645-1AC7-AAE4-2C45-5830B500FB2F}"/>
              </a:ext>
            </a:extLst>
          </p:cNvPr>
          <p:cNvSpPr>
            <a:spLocks noGrp="1"/>
          </p:cNvSpPr>
          <p:nvPr>
            <p:ph sz="quarter" idx="16"/>
          </p:nvPr>
        </p:nvSpPr>
        <p:spPr>
          <a:xfrm>
            <a:off x="6096000" y="2328525"/>
            <a:ext cx="4424827" cy="3297470"/>
          </a:xfrm>
        </p:spPr>
        <p:txBody>
          <a:bodyPr vert="horz" lIns="0" tIns="45720" rIns="0" bIns="0" rtlCol="0" anchor="t">
            <a:normAutofit fontScale="70000" lnSpcReduction="20000"/>
          </a:bodyPr>
          <a:lstStyle/>
          <a:p>
            <a:pPr algn="ctr"/>
            <a:r>
              <a:rPr lang="en-US" sz="2600" b="1">
                <a:solidFill>
                  <a:schemeClr val="tx2">
                    <a:lumMod val="75000"/>
                  </a:schemeClr>
                </a:solidFill>
              </a:rPr>
              <a:t>Night Hawk</a:t>
            </a:r>
          </a:p>
          <a:p>
            <a:pPr marL="342900" indent="-342900">
              <a:buChar char="•"/>
            </a:pPr>
            <a:r>
              <a:rPr lang="en-US" sz="1900"/>
              <a:t>Company emphasizes helping other companies and patients at all time. Their website has a very in-depth explanation of each service and what it provides exactly. Technology here has been continuously developed since 1999.</a:t>
            </a:r>
          </a:p>
          <a:p>
            <a:pPr marL="626110" lvl="1" indent="-342900">
              <a:buFont typeface="Courier New" panose="020B0604020202020204" pitchFamily="34" charset="0"/>
              <a:buChar char="o"/>
            </a:pPr>
            <a:r>
              <a:rPr lang="en-US" sz="1900"/>
              <a:t>Open company for business and patients themselves. </a:t>
            </a:r>
          </a:p>
          <a:p>
            <a:pPr marL="626110" lvl="1" indent="-342900">
              <a:buFont typeface="Courier New" panose="020B0604020202020204" pitchFamily="34" charset="0"/>
              <a:buChar char="o"/>
            </a:pPr>
            <a:r>
              <a:rPr lang="en-US" sz="1900"/>
              <a:t>Insurances quotes and legal quotes available for works compensation and other injury related situations</a:t>
            </a:r>
          </a:p>
          <a:p>
            <a:pPr marL="626110" lvl="1" indent="-342900">
              <a:buFont typeface="Courier New" panose="020B0604020202020204" pitchFamily="34" charset="0"/>
              <a:buChar char="o"/>
            </a:pPr>
            <a:r>
              <a:rPr lang="en-US" sz="1900"/>
              <a:t>Legal quotes available</a:t>
            </a:r>
          </a:p>
          <a:p>
            <a:pPr marL="626110" lvl="1" indent="-342900">
              <a:buFont typeface="Courier New" panose="020B0604020202020204" pitchFamily="34" charset="0"/>
              <a:buChar char="o"/>
            </a:pPr>
            <a:r>
              <a:rPr lang="en-US" sz="1900"/>
              <a:t>Turnaround time is "fast" but not specified</a:t>
            </a:r>
          </a:p>
          <a:p>
            <a:pPr marL="626110" lvl="1" indent="-342900">
              <a:buFont typeface="Courier New" panose="020B0604020202020204" pitchFamily="34" charset="0"/>
              <a:buChar char="o"/>
            </a:pPr>
            <a:r>
              <a:rPr lang="en-US" sz="1900"/>
              <a:t>EMR</a:t>
            </a:r>
          </a:p>
          <a:p>
            <a:pPr marL="626110" lvl="1" indent="-342900">
              <a:buFont typeface="Courier New" panose="020B0604020202020204" pitchFamily="34" charset="0"/>
              <a:buChar char="o"/>
            </a:pPr>
            <a:endParaRPr lang="en-US"/>
          </a:p>
          <a:p>
            <a:pPr marL="626110" lvl="1" indent="-342900">
              <a:buFont typeface="Courier New" panose="020B0604020202020204" pitchFamily="34" charset="0"/>
              <a:buChar char="o"/>
            </a:pPr>
            <a:endParaRPr lang="en-US"/>
          </a:p>
        </p:txBody>
      </p:sp>
      <p:pic>
        <p:nvPicPr>
          <p:cNvPr id="5" name="Rocky Cir 3">
            <a:hlinkClick r:id="" action="ppaction://media"/>
            <a:extLst>
              <a:ext uri="{FF2B5EF4-FFF2-40B4-BE49-F238E27FC236}">
                <a16:creationId xmlns:a16="http://schemas.microsoft.com/office/drawing/2014/main" id="{215FE808-1DFA-8594-E80B-82D347EF4E4A}"/>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229235" y="172047"/>
            <a:ext cx="730250" cy="730250"/>
          </a:xfrm>
          <a:prstGeom prst="rect">
            <a:avLst/>
          </a:prstGeom>
        </p:spPr>
      </p:pic>
    </p:spTree>
    <p:extLst>
      <p:ext uri="{BB962C8B-B14F-4D97-AF65-F5344CB8AC3E}">
        <p14:creationId xmlns:p14="http://schemas.microsoft.com/office/powerpoint/2010/main" val="4477271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800" fill="hold"/>
                                        <p:tgtEl>
                                          <p:spTgt spid="5"/>
                                        </p:tgtEl>
                                      </p:cBhvr>
                                    </p:cmd>
                                  </p:childTnLst>
                                </p:cTn>
                              </p:par>
                            </p:childTnLst>
                          </p:cTn>
                        </p:par>
                      </p:childTnLst>
                    </p:cTn>
                  </p:par>
                </p:childTnLst>
              </p:cTn>
              <p:nextCondLst>
                <p:cond evt="onClick" delay="0">
                  <p:tgtEl>
                    <p:spTgt spid="5"/>
                  </p:tgtEl>
                </p:cond>
              </p:nextCondLst>
            </p:seq>
            <p:audio>
              <p:cMediaNode>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E63D-E540-7A7B-1235-B9B179D5D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D183F-15AD-24AC-1CDC-D61E15D4180F}"/>
              </a:ext>
            </a:extLst>
          </p:cNvPr>
          <p:cNvSpPr>
            <a:spLocks noGrp="1"/>
          </p:cNvSpPr>
          <p:nvPr>
            <p:ph type="title"/>
          </p:nvPr>
        </p:nvSpPr>
        <p:spPr>
          <a:xfrm>
            <a:off x="594359" y="448759"/>
            <a:ext cx="6787747" cy="1593507"/>
          </a:xfrm>
        </p:spPr>
        <p:txBody>
          <a:bodyPr/>
          <a:lstStyle/>
          <a:p>
            <a:r>
              <a:rPr lang="en-US"/>
              <a:t>Why We Chose Infinity Teleradiology</a:t>
            </a:r>
          </a:p>
        </p:txBody>
      </p:sp>
      <p:sp>
        <p:nvSpPr>
          <p:cNvPr id="3" name="Content Placeholder 2">
            <a:extLst>
              <a:ext uri="{FF2B5EF4-FFF2-40B4-BE49-F238E27FC236}">
                <a16:creationId xmlns:a16="http://schemas.microsoft.com/office/drawing/2014/main" id="{0BC9A01F-2ECA-4339-D7D3-B8EA141EC616}"/>
              </a:ext>
            </a:extLst>
          </p:cNvPr>
          <p:cNvSpPr>
            <a:spLocks noGrp="1"/>
          </p:cNvSpPr>
          <p:nvPr>
            <p:ph sz="quarter" idx="13"/>
          </p:nvPr>
        </p:nvSpPr>
        <p:spPr/>
        <p:txBody>
          <a:bodyPr vert="horz" lIns="0" tIns="228600" rIns="0" bIns="0" rtlCol="0" anchor="t">
            <a:normAutofit/>
          </a:bodyPr>
          <a:lstStyle/>
          <a:p>
            <a:pPr marL="342900" indent="-342900">
              <a:lnSpc>
                <a:spcPct val="150000"/>
              </a:lnSpc>
              <a:buFont typeface="Arial" panose="020B0604020202020204" pitchFamily="34" charset="0"/>
              <a:buChar char="•"/>
            </a:pPr>
            <a:r>
              <a:rPr lang="en-US" b="0">
                <a:solidFill>
                  <a:schemeClr val="bg1"/>
                </a:solidFill>
              </a:rPr>
              <a:t>Night Hawk was a company more tailored as a private institute </a:t>
            </a:r>
          </a:p>
          <a:p>
            <a:pPr marL="626364" lvl="1" indent="-342900">
              <a:lnSpc>
                <a:spcPct val="150000"/>
              </a:lnSpc>
            </a:pPr>
            <a:r>
              <a:rPr lang="en-US"/>
              <a:t>More services concerning legality and insurances </a:t>
            </a:r>
          </a:p>
          <a:p>
            <a:pPr marL="342900" indent="-342900">
              <a:lnSpc>
                <a:spcPct val="150000"/>
              </a:lnSpc>
              <a:buFont typeface="Arial" panose="020B0604020202020204" pitchFamily="34" charset="0"/>
              <a:buChar char="•"/>
            </a:pPr>
            <a:r>
              <a:rPr lang="en-US" b="0">
                <a:solidFill>
                  <a:schemeClr val="bg1"/>
                </a:solidFill>
              </a:rPr>
              <a:t>Teleradiology has a better success rate as well as additional services</a:t>
            </a:r>
          </a:p>
          <a:p>
            <a:endParaRPr lang="en-US" b="0"/>
          </a:p>
          <a:p>
            <a:pPr marL="859790" lvl="2" indent="0">
              <a:buNone/>
            </a:pPr>
            <a:endParaRPr lang="en-US">
              <a:solidFill>
                <a:srgbClr val="5D7D40"/>
              </a:solidFill>
            </a:endParaRPr>
          </a:p>
        </p:txBody>
      </p:sp>
      <p:pic>
        <p:nvPicPr>
          <p:cNvPr id="5" name="why we chose ">
            <a:hlinkClick r:id="" action="ppaction://media"/>
            <a:extLst>
              <a:ext uri="{FF2B5EF4-FFF2-40B4-BE49-F238E27FC236}">
                <a16:creationId xmlns:a16="http://schemas.microsoft.com/office/drawing/2014/main" id="{31245281-20A0-FF30-0BFE-C46F284A14F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50677" y="277774"/>
            <a:ext cx="487363" cy="487363"/>
          </a:xfrm>
          <a:prstGeom prst="rect">
            <a:avLst/>
          </a:prstGeom>
        </p:spPr>
      </p:pic>
    </p:spTree>
    <p:extLst>
      <p:ext uri="{BB962C8B-B14F-4D97-AF65-F5344CB8AC3E}">
        <p14:creationId xmlns:p14="http://schemas.microsoft.com/office/powerpoint/2010/main" val="3330279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938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42CFB-4635-EF6A-9266-C7E693897CBF}"/>
              </a:ext>
            </a:extLst>
          </p:cNvPr>
          <p:cNvSpPr>
            <a:spLocks noGrp="1"/>
          </p:cNvSpPr>
          <p:nvPr>
            <p:ph type="title"/>
          </p:nvPr>
        </p:nvSpPr>
        <p:spPr/>
        <p:txBody>
          <a:bodyPr/>
          <a:lstStyle/>
          <a:p>
            <a:r>
              <a:rPr lang="en-US">
                <a:ea typeface="Calibri Light"/>
                <a:cs typeface="Calibri Light"/>
              </a:rPr>
              <a:t>Financial Evaluation</a:t>
            </a:r>
            <a:endParaRPr lang="en-US"/>
          </a:p>
        </p:txBody>
      </p:sp>
      <p:sp>
        <p:nvSpPr>
          <p:cNvPr id="3" name="Content Placeholder 2">
            <a:extLst>
              <a:ext uri="{FF2B5EF4-FFF2-40B4-BE49-F238E27FC236}">
                <a16:creationId xmlns:a16="http://schemas.microsoft.com/office/drawing/2014/main" id="{AF8D8EDE-5663-F8F1-E368-64A216E50357}"/>
              </a:ext>
            </a:extLst>
          </p:cNvPr>
          <p:cNvSpPr>
            <a:spLocks noGrp="1"/>
          </p:cNvSpPr>
          <p:nvPr>
            <p:ph sz="quarter" idx="13"/>
          </p:nvPr>
        </p:nvSpPr>
        <p:spPr>
          <a:xfrm>
            <a:off x="594359" y="2281918"/>
            <a:ext cx="7365418" cy="4088902"/>
          </a:xfrm>
        </p:spPr>
        <p:txBody>
          <a:bodyPr vert="horz" lIns="0" tIns="228600" rIns="0" bIns="0" rtlCol="0" anchor="t">
            <a:normAutofit/>
          </a:bodyPr>
          <a:lstStyle/>
          <a:p>
            <a:pPr marL="283210" indent="-283210"/>
            <a:r>
              <a:rPr lang="en-US" sz="2800" b="0">
                <a:solidFill>
                  <a:srgbClr val="2D3B45"/>
                </a:solidFill>
                <a:ea typeface="+mn-lt"/>
                <a:cs typeface="+mn-lt"/>
              </a:rPr>
              <a:t>Research</a:t>
            </a:r>
            <a:endParaRPr lang="en-US" sz="2800"/>
          </a:p>
          <a:p>
            <a:pPr marL="283210" indent="-283210"/>
            <a:r>
              <a:rPr lang="en-US" sz="2800" b="0">
                <a:solidFill>
                  <a:srgbClr val="2D3B45"/>
                </a:solidFill>
                <a:ea typeface="+mn-lt"/>
                <a:cs typeface="+mn-lt"/>
              </a:rPr>
              <a:t>Installation costs</a:t>
            </a:r>
          </a:p>
          <a:p>
            <a:pPr marL="283210" indent="-283210"/>
            <a:r>
              <a:rPr lang="en-US" sz="2800" b="0">
                <a:solidFill>
                  <a:srgbClr val="2D3B45"/>
                </a:solidFill>
                <a:ea typeface="+mn-lt"/>
                <a:cs typeface="+mn-lt"/>
              </a:rPr>
              <a:t>Integration with other systems</a:t>
            </a:r>
            <a:endParaRPr lang="en-US" sz="2800"/>
          </a:p>
          <a:p>
            <a:pPr marL="283210" indent="-283210"/>
            <a:r>
              <a:rPr lang="en-US" sz="2800" b="0">
                <a:solidFill>
                  <a:srgbClr val="2D3B45"/>
                </a:solidFill>
                <a:ea typeface="+mn-lt"/>
                <a:cs typeface="+mn-lt"/>
              </a:rPr>
              <a:t>Implementation</a:t>
            </a:r>
            <a:endParaRPr lang="en-US" sz="2800"/>
          </a:p>
          <a:p>
            <a:pPr marL="283210" indent="-283210"/>
            <a:r>
              <a:rPr lang="en-US" sz="2800" b="0">
                <a:solidFill>
                  <a:srgbClr val="2D3B45"/>
                </a:solidFill>
                <a:ea typeface="+mn-lt"/>
                <a:cs typeface="+mn-lt"/>
              </a:rPr>
              <a:t>End-user training </a:t>
            </a:r>
            <a:endParaRPr lang="en-US" sz="2800"/>
          </a:p>
          <a:p>
            <a:pPr marL="0" indent="0">
              <a:buNone/>
            </a:pPr>
            <a:endParaRPr lang="en-US"/>
          </a:p>
        </p:txBody>
      </p:sp>
      <p:pic>
        <p:nvPicPr>
          <p:cNvPr id="5" name="Picture 4" descr="Healthcare technician reading CT scan">
            <a:extLst>
              <a:ext uri="{FF2B5EF4-FFF2-40B4-BE49-F238E27FC236}">
                <a16:creationId xmlns:a16="http://schemas.microsoft.com/office/drawing/2014/main" id="{E5E4D7C0-37BF-CA60-C6B9-585F7CD7AD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2107" y="3591738"/>
            <a:ext cx="4517367" cy="3010995"/>
          </a:xfrm>
          <a:prstGeom prst="rect">
            <a:avLst/>
          </a:prstGeom>
        </p:spPr>
      </p:pic>
      <p:pic>
        <p:nvPicPr>
          <p:cNvPr id="32" name="Slide 1 Recorded Sound">
            <a:hlinkClick r:id="" action="ppaction://media"/>
            <a:extLst>
              <a:ext uri="{FF2B5EF4-FFF2-40B4-BE49-F238E27FC236}">
                <a16:creationId xmlns:a16="http://schemas.microsoft.com/office/drawing/2014/main" id="{CB40F798-9A31-EC73-EB18-1115CD43094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394611" y="376725"/>
            <a:ext cx="609600" cy="609600"/>
          </a:xfrm>
          <a:prstGeom prst="rect">
            <a:avLst/>
          </a:prstGeom>
        </p:spPr>
      </p:pic>
    </p:spTree>
    <p:extLst>
      <p:ext uri="{BB962C8B-B14F-4D97-AF65-F5344CB8AC3E}">
        <p14:creationId xmlns:p14="http://schemas.microsoft.com/office/powerpoint/2010/main" val="3925307032"/>
      </p:ext>
    </p:extLst>
  </p:cSld>
  <p:clrMapOvr>
    <a:masterClrMapping/>
  </p:clrMapOvr>
  <mc:AlternateContent xmlns:mc="http://schemas.openxmlformats.org/markup-compatibility/2006" xmlns:p14="http://schemas.microsoft.com/office/powerpoint/2010/main">
    <mc:Choice Requires="p14">
      <p:transition spd="slow" p14:dur="2000" advTm="64609"/>
    </mc:Choice>
    <mc:Fallback xmlns="">
      <p:transition spd="slow" advTm="646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477"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184D4-ED04-6A6D-D313-098C2E318A43}"/>
              </a:ext>
            </a:extLst>
          </p:cNvPr>
          <p:cNvSpPr>
            <a:spLocks noGrp="1"/>
          </p:cNvSpPr>
          <p:nvPr>
            <p:ph type="title"/>
          </p:nvPr>
        </p:nvSpPr>
        <p:spPr/>
        <p:txBody>
          <a:bodyPr/>
          <a:lstStyle/>
          <a:p>
            <a:r>
              <a:rPr lang="en-US">
                <a:ea typeface="Calibri Light"/>
                <a:cs typeface="Calibri Light"/>
              </a:rPr>
              <a:t>Financial Evaluation</a:t>
            </a:r>
            <a:endParaRPr lang="en-US"/>
          </a:p>
        </p:txBody>
      </p:sp>
      <p:sp>
        <p:nvSpPr>
          <p:cNvPr id="3" name="Content Placeholder 2">
            <a:extLst>
              <a:ext uri="{FF2B5EF4-FFF2-40B4-BE49-F238E27FC236}">
                <a16:creationId xmlns:a16="http://schemas.microsoft.com/office/drawing/2014/main" id="{2CD8AB48-5EFB-068E-6798-AF3F325D6F9A}"/>
              </a:ext>
            </a:extLst>
          </p:cNvPr>
          <p:cNvSpPr>
            <a:spLocks noGrp="1"/>
          </p:cNvSpPr>
          <p:nvPr>
            <p:ph sz="quarter" idx="13"/>
          </p:nvPr>
        </p:nvSpPr>
        <p:spPr>
          <a:xfrm>
            <a:off x="594359" y="2281918"/>
            <a:ext cx="7065615" cy="4268784"/>
          </a:xfrm>
        </p:spPr>
        <p:txBody>
          <a:bodyPr vert="horz" lIns="0" tIns="228600" rIns="0" bIns="0" rtlCol="0" anchor="t">
            <a:normAutofit/>
          </a:bodyPr>
          <a:lstStyle/>
          <a:p>
            <a:pPr marL="342900" indent="-342900"/>
            <a:r>
              <a:rPr lang="en-US" sz="2800" b="0">
                <a:solidFill>
                  <a:srgbClr val="2D3B45"/>
                </a:solidFill>
                <a:ea typeface="+mn-lt"/>
                <a:cs typeface="+mn-lt"/>
              </a:rPr>
              <a:t>Security</a:t>
            </a:r>
            <a:endParaRPr lang="en-US" sz="2800"/>
          </a:p>
          <a:p>
            <a:pPr marL="342900" indent="-342900"/>
            <a:r>
              <a:rPr lang="en-US" sz="2800" b="0">
                <a:solidFill>
                  <a:srgbClr val="2D3B45"/>
                </a:solidFill>
                <a:ea typeface="+mn-lt"/>
                <a:cs typeface="+mn-lt"/>
              </a:rPr>
              <a:t>Quality assurance</a:t>
            </a:r>
            <a:endParaRPr lang="en-US" sz="2800">
              <a:solidFill>
                <a:srgbClr val="5D7D40"/>
              </a:solidFill>
              <a:ea typeface="+mn-lt"/>
              <a:cs typeface="+mn-lt"/>
            </a:endParaRPr>
          </a:p>
          <a:p>
            <a:pPr marL="342900" indent="-342900"/>
            <a:r>
              <a:rPr lang="en-US" sz="2800" b="0">
                <a:solidFill>
                  <a:srgbClr val="2D3B45"/>
                </a:solidFill>
                <a:ea typeface="+mn-lt"/>
                <a:cs typeface="+mn-lt"/>
              </a:rPr>
              <a:t>System maintenance</a:t>
            </a:r>
            <a:endParaRPr lang="en-US" sz="2800"/>
          </a:p>
          <a:p>
            <a:pPr marL="342900" indent="-342900"/>
            <a:r>
              <a:rPr lang="en-US" sz="2800" b="0">
                <a:solidFill>
                  <a:srgbClr val="2D3B45"/>
                </a:solidFill>
                <a:ea typeface="+mn-lt"/>
                <a:cs typeface="+mn-lt"/>
              </a:rPr>
              <a:t>Loss of staff radiologist income</a:t>
            </a:r>
            <a:endParaRPr lang="en-US" sz="2800"/>
          </a:p>
          <a:p>
            <a:pPr marL="342900" indent="-342900"/>
            <a:r>
              <a:rPr lang="en-US" sz="2800" b="0">
                <a:solidFill>
                  <a:srgbClr val="2D3B45"/>
                </a:solidFill>
                <a:ea typeface="+mn-lt"/>
                <a:cs typeface="+mn-lt"/>
              </a:rPr>
              <a:t>Regulations and liability</a:t>
            </a:r>
            <a:endParaRPr lang="en-US" sz="2800">
              <a:solidFill>
                <a:srgbClr val="5D7D40"/>
              </a:solidFill>
              <a:ea typeface="+mn-lt"/>
              <a:cs typeface="+mn-lt"/>
            </a:endParaRPr>
          </a:p>
        </p:txBody>
      </p:sp>
      <p:graphicFrame>
        <p:nvGraphicFramePr>
          <p:cNvPr id="4" name="Content Placeholder 7">
            <a:extLst>
              <a:ext uri="{FF2B5EF4-FFF2-40B4-BE49-F238E27FC236}">
                <a16:creationId xmlns:a16="http://schemas.microsoft.com/office/drawing/2014/main" id="{87E44140-AAEB-5DE6-4B13-A16A7FA0902F}"/>
              </a:ext>
            </a:extLst>
          </p:cNvPr>
          <p:cNvGraphicFramePr>
            <a:graphicFrameLocks/>
          </p:cNvGraphicFramePr>
          <p:nvPr>
            <p:extLst>
              <p:ext uri="{D42A27DB-BD31-4B8C-83A1-F6EECF244321}">
                <p14:modId xmlns:p14="http://schemas.microsoft.com/office/powerpoint/2010/main" val="1300310501"/>
              </p:ext>
            </p:extLst>
          </p:nvPr>
        </p:nvGraphicFramePr>
        <p:xfrm>
          <a:off x="7196254" y="3561971"/>
          <a:ext cx="4401387" cy="3273390"/>
        </p:xfrm>
        <a:graphic>
          <a:graphicData uri="http://schemas.openxmlformats.org/drawingml/2006/table">
            <a:tbl>
              <a:tblPr firstRow="1" bandRow="1">
                <a:tableStyleId>{69C7853C-536D-4A76-A0AE-DD22124D55A5}</a:tableStyleId>
              </a:tblPr>
              <a:tblGrid>
                <a:gridCol w="1545314">
                  <a:extLst>
                    <a:ext uri="{9D8B030D-6E8A-4147-A177-3AD203B41FA5}">
                      <a16:colId xmlns:a16="http://schemas.microsoft.com/office/drawing/2014/main" val="2003764246"/>
                    </a:ext>
                  </a:extLst>
                </a:gridCol>
                <a:gridCol w="2856073">
                  <a:extLst>
                    <a:ext uri="{9D8B030D-6E8A-4147-A177-3AD203B41FA5}">
                      <a16:colId xmlns:a16="http://schemas.microsoft.com/office/drawing/2014/main" val="1882600099"/>
                    </a:ext>
                  </a:extLst>
                </a:gridCol>
              </a:tblGrid>
              <a:tr h="910919">
                <a:tc>
                  <a:txBody>
                    <a:bodyPr/>
                    <a:lstStyle/>
                    <a:p>
                      <a:r>
                        <a:rPr lang="en-US" sz="2800"/>
                        <a:t>Exam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2800"/>
                        <a:t>Interpretation Fee/Exam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996677060"/>
                  </a:ext>
                </a:extLst>
              </a:tr>
              <a:tr h="465702">
                <a:tc>
                  <a:txBody>
                    <a:bodyPr/>
                    <a:lstStyle/>
                    <a:p>
                      <a:r>
                        <a:rPr lang="en-US" sz="2400"/>
                        <a:t>X-Ray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240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4115660421"/>
                  </a:ext>
                </a:extLst>
              </a:tr>
              <a:tr h="465702">
                <a:tc>
                  <a:txBody>
                    <a:bodyPr/>
                    <a:lstStyle/>
                    <a:p>
                      <a:r>
                        <a:rPr lang="en-US" sz="2400"/>
                        <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240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593454523"/>
                  </a:ext>
                </a:extLst>
              </a:tr>
              <a:tr h="465702">
                <a:tc>
                  <a:txBody>
                    <a:bodyPr/>
                    <a:lstStyle/>
                    <a:p>
                      <a:r>
                        <a:rPr lang="en-US" sz="2400"/>
                        <a: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2400"/>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333832945"/>
                  </a:ext>
                </a:extLst>
              </a:tr>
              <a:tr h="465702">
                <a:tc>
                  <a:txBody>
                    <a:bodyPr/>
                    <a:lstStyle/>
                    <a:p>
                      <a:r>
                        <a:rPr lang="en-US" sz="2400"/>
                        <a:t>MR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2400"/>
                        <a:t>$48+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4001270201"/>
                  </a:ext>
                </a:extLst>
              </a:tr>
              <a:tr h="465702">
                <a:tc>
                  <a:txBody>
                    <a:bodyPr/>
                    <a:lstStyle/>
                    <a:p>
                      <a:r>
                        <a:rPr lang="en-US" sz="2400"/>
                        <a:t>PET/CT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240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825162596"/>
                  </a:ext>
                </a:extLst>
              </a:tr>
            </a:tbl>
          </a:graphicData>
        </a:graphic>
      </p:graphicFrame>
      <p:pic>
        <p:nvPicPr>
          <p:cNvPr id="19" name="Recorded Sound">
            <a:hlinkClick r:id="" action="ppaction://media"/>
            <a:extLst>
              <a:ext uri="{FF2B5EF4-FFF2-40B4-BE49-F238E27FC236}">
                <a16:creationId xmlns:a16="http://schemas.microsoft.com/office/drawing/2014/main" id="{FCC9C2A9-F785-9FFE-4AB7-27E3BFE3994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89559" y="307298"/>
            <a:ext cx="609600" cy="609600"/>
          </a:xfrm>
          <a:prstGeom prst="rect">
            <a:avLst/>
          </a:prstGeom>
        </p:spPr>
      </p:pic>
    </p:spTree>
    <p:extLst>
      <p:ext uri="{BB962C8B-B14F-4D97-AF65-F5344CB8AC3E}">
        <p14:creationId xmlns:p14="http://schemas.microsoft.com/office/powerpoint/2010/main" val="2624788974"/>
      </p:ext>
    </p:extLst>
  </p:cSld>
  <p:clrMapOvr>
    <a:masterClrMapping/>
  </p:clrMapOvr>
  <mc:AlternateContent xmlns:mc="http://schemas.openxmlformats.org/markup-compatibility/2006" xmlns:p14="http://schemas.microsoft.com/office/powerpoint/2010/main">
    <mc:Choice Requires="p14">
      <p:transition spd="slow" p14:dur="2000" advTm="58197"/>
    </mc:Choice>
    <mc:Fallback xmlns="">
      <p:transition spd="slow" advTm="581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501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9"/>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DD28-6E83-94B6-BD3E-C029402AAA78}"/>
              </a:ext>
            </a:extLst>
          </p:cNvPr>
          <p:cNvSpPr>
            <a:spLocks noGrp="1"/>
          </p:cNvSpPr>
          <p:nvPr>
            <p:ph type="title"/>
          </p:nvPr>
        </p:nvSpPr>
        <p:spPr>
          <a:xfrm>
            <a:off x="587734" y="774606"/>
            <a:ext cx="6787747" cy="1009641"/>
          </a:xfrm>
        </p:spPr>
        <p:txBody>
          <a:bodyPr/>
          <a:lstStyle/>
          <a:p>
            <a:r>
              <a:rPr lang="en-US">
                <a:ea typeface="Calibri Light"/>
                <a:cs typeface="Calibri Light"/>
              </a:rPr>
              <a:t>Financial Evaluation</a:t>
            </a:r>
            <a:endParaRPr lang="en-US"/>
          </a:p>
        </p:txBody>
      </p:sp>
      <p:sp>
        <p:nvSpPr>
          <p:cNvPr id="10" name="Content Placeholder 9">
            <a:extLst>
              <a:ext uri="{FF2B5EF4-FFF2-40B4-BE49-F238E27FC236}">
                <a16:creationId xmlns:a16="http://schemas.microsoft.com/office/drawing/2014/main" id="{62D15929-E2B5-2544-BE6A-E4AD62FBCEE0}"/>
              </a:ext>
            </a:extLst>
          </p:cNvPr>
          <p:cNvSpPr>
            <a:spLocks noGrp="1"/>
          </p:cNvSpPr>
          <p:nvPr>
            <p:ph sz="quarter" idx="13"/>
          </p:nvPr>
        </p:nvSpPr>
        <p:spPr>
          <a:xfrm>
            <a:off x="414477" y="2371495"/>
            <a:ext cx="3904809" cy="3708517"/>
          </a:xfrm>
        </p:spPr>
        <p:txBody>
          <a:bodyPr/>
          <a:lstStyle/>
          <a:p>
            <a:r>
              <a:rPr lang="en-US" sz="2400" b="0">
                <a:solidFill>
                  <a:srgbClr val="2D3B45"/>
                </a:solidFill>
                <a:ea typeface="+mn-lt"/>
                <a:cs typeface="+mn-lt"/>
              </a:rPr>
              <a:t>Cost projections of NOT implementing</a:t>
            </a:r>
            <a:endParaRPr lang="en-US" sz="2400"/>
          </a:p>
          <a:p>
            <a:r>
              <a:rPr lang="en-US" b="0"/>
              <a:t>AARP</a:t>
            </a:r>
          </a:p>
          <a:p>
            <a:pPr lvl="1"/>
            <a:r>
              <a:rPr lang="en-US" b="0" i="0">
                <a:solidFill>
                  <a:srgbClr val="121212"/>
                </a:solidFill>
                <a:effectLst/>
                <a:latin typeface="Lato" panose="020F0502020204030203" pitchFamily="34" charset="0"/>
              </a:rPr>
              <a:t>“The ensuing cost of medical misdiagnosis to the U.S. health care system may be as high as $100 billion per year”</a:t>
            </a:r>
            <a:endParaRPr lang="en-US"/>
          </a:p>
        </p:txBody>
      </p:sp>
      <p:pic>
        <p:nvPicPr>
          <p:cNvPr id="11" name="Picture 10">
            <a:extLst>
              <a:ext uri="{FF2B5EF4-FFF2-40B4-BE49-F238E27FC236}">
                <a16:creationId xmlns:a16="http://schemas.microsoft.com/office/drawing/2014/main" id="{BB89A101-5301-5FB5-0BB3-1293C95512BE}"/>
              </a:ext>
            </a:extLst>
          </p:cNvPr>
          <p:cNvPicPr>
            <a:picLocks noChangeAspect="1"/>
          </p:cNvPicPr>
          <p:nvPr/>
        </p:nvPicPr>
        <p:blipFill rotWithShape="1">
          <a:blip r:embed="rId5"/>
          <a:srcRect l="1465" t="2205" r="2049" b="1630"/>
          <a:stretch/>
        </p:blipFill>
        <p:spPr>
          <a:xfrm>
            <a:off x="6480313" y="3552985"/>
            <a:ext cx="4366592" cy="3034748"/>
          </a:xfrm>
          <a:prstGeom prst="rect">
            <a:avLst/>
          </a:prstGeom>
        </p:spPr>
      </p:pic>
      <p:sp>
        <p:nvSpPr>
          <p:cNvPr id="12" name="TextBox 11">
            <a:extLst>
              <a:ext uri="{FF2B5EF4-FFF2-40B4-BE49-F238E27FC236}">
                <a16:creationId xmlns:a16="http://schemas.microsoft.com/office/drawing/2014/main" id="{8335251D-CEF2-BBA8-A849-0DBE1EAFE971}"/>
              </a:ext>
            </a:extLst>
          </p:cNvPr>
          <p:cNvSpPr txBox="1"/>
          <p:nvPr/>
        </p:nvSpPr>
        <p:spPr>
          <a:xfrm>
            <a:off x="73784" y="6187624"/>
            <a:ext cx="5956630" cy="800219"/>
          </a:xfrm>
          <a:prstGeom prst="rect">
            <a:avLst/>
          </a:prstGeom>
          <a:noFill/>
        </p:spPr>
        <p:txBody>
          <a:bodyPr wrap="square" lIns="91440" tIns="45720" rIns="91440" bIns="45720" rtlCol="0" anchor="t">
            <a:spAutoFit/>
          </a:bodyPr>
          <a:lstStyle/>
          <a:p>
            <a:r>
              <a:rPr lang="en-US" sz="1400">
                <a:solidFill>
                  <a:schemeClr val="bg1"/>
                </a:solidFill>
              </a:rPr>
              <a:t>Image obtained on 2024-03-02 from: https://www.scirp.org/journal/paperinformation?paperid=85235</a:t>
            </a:r>
          </a:p>
          <a:p>
            <a:endParaRPr lang="en-US">
              <a:solidFill>
                <a:schemeClr val="bg1"/>
              </a:solidFill>
            </a:endParaRPr>
          </a:p>
        </p:txBody>
      </p:sp>
      <p:pic>
        <p:nvPicPr>
          <p:cNvPr id="21" name="Slide 3 Recorded Sound">
            <a:hlinkClick r:id="" action="ppaction://media"/>
            <a:extLst>
              <a:ext uri="{FF2B5EF4-FFF2-40B4-BE49-F238E27FC236}">
                <a16:creationId xmlns:a16="http://schemas.microsoft.com/office/drawing/2014/main" id="{239273F8-1AF9-D24B-F432-EEE6924DB74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14477" y="354760"/>
            <a:ext cx="609600" cy="609600"/>
          </a:xfrm>
          <a:prstGeom prst="rect">
            <a:avLst/>
          </a:prstGeom>
        </p:spPr>
      </p:pic>
    </p:spTree>
    <p:extLst>
      <p:ext uri="{BB962C8B-B14F-4D97-AF65-F5344CB8AC3E}">
        <p14:creationId xmlns:p14="http://schemas.microsoft.com/office/powerpoint/2010/main" val="2676621383"/>
      </p:ext>
    </p:extLst>
  </p:cSld>
  <p:clrMapOvr>
    <a:masterClrMapping/>
  </p:clrMapOvr>
  <mc:AlternateContent xmlns:mc="http://schemas.openxmlformats.org/markup-compatibility/2006" xmlns:p14="http://schemas.microsoft.com/office/powerpoint/2010/main">
    <mc:Choice Requires="p14">
      <p:transition spd="slow" p14:dur="2000" advTm="47480"/>
    </mc:Choice>
    <mc:Fallback xmlns="">
      <p:transition spd="slow" advTm="474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8529"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258D3-AE93-8406-8364-D2AD326F92F7}"/>
              </a:ext>
            </a:extLst>
          </p:cNvPr>
          <p:cNvSpPr>
            <a:spLocks noGrp="1"/>
          </p:cNvSpPr>
          <p:nvPr>
            <p:ph type="title"/>
          </p:nvPr>
        </p:nvSpPr>
        <p:spPr/>
        <p:txBody>
          <a:bodyPr/>
          <a:lstStyle/>
          <a:p>
            <a:r>
              <a:rPr lang="en-US" b="0">
                <a:solidFill>
                  <a:srgbClr val="0D0D0D"/>
                </a:solidFill>
                <a:ea typeface="+mj-lt"/>
                <a:cs typeface="+mj-lt"/>
              </a:rPr>
              <a:t>Privacy and Cybersecurity in Teleradiology</a:t>
            </a:r>
            <a:endParaRPr lang="en-US"/>
          </a:p>
        </p:txBody>
      </p:sp>
      <p:sp>
        <p:nvSpPr>
          <p:cNvPr id="3" name="Content Placeholder 2">
            <a:extLst>
              <a:ext uri="{FF2B5EF4-FFF2-40B4-BE49-F238E27FC236}">
                <a16:creationId xmlns:a16="http://schemas.microsoft.com/office/drawing/2014/main" id="{21C5E622-F90E-4D62-4BDC-0743354883A8}"/>
              </a:ext>
            </a:extLst>
          </p:cNvPr>
          <p:cNvSpPr>
            <a:spLocks noGrp="1"/>
          </p:cNvSpPr>
          <p:nvPr>
            <p:ph sz="quarter" idx="13"/>
          </p:nvPr>
        </p:nvSpPr>
        <p:spPr/>
        <p:txBody>
          <a:bodyPr vert="horz" lIns="0" tIns="228600" rIns="0" bIns="0" rtlCol="0" anchor="t">
            <a:normAutofit/>
          </a:bodyPr>
          <a:lstStyle/>
          <a:p>
            <a:pPr marL="283210" indent="-283210"/>
            <a:r>
              <a:rPr lang="en-US" b="0">
                <a:solidFill>
                  <a:srgbClr val="0D0D0D"/>
                </a:solidFill>
                <a:ea typeface="+mn-lt"/>
                <a:cs typeface="+mn-lt"/>
              </a:rPr>
              <a:t>Ensuring patient privacy and cybersecurity within teleradiology is paramount.</a:t>
            </a:r>
            <a:endParaRPr lang="en-US"/>
          </a:p>
          <a:p>
            <a:pPr marL="283210" indent="-283210"/>
            <a:r>
              <a:rPr lang="en-US" b="0">
                <a:solidFill>
                  <a:srgbClr val="0D0D0D"/>
                </a:solidFill>
                <a:ea typeface="+mn-lt"/>
                <a:cs typeface="+mn-lt"/>
              </a:rPr>
              <a:t>Medical imaging data is highly sensitive, and unauthorized access poses significant risks to patient confidentiality and data integrity</a:t>
            </a:r>
            <a:endParaRPr lang="en-US"/>
          </a:p>
          <a:p>
            <a:pPr marL="283210" indent="-283210"/>
            <a:endParaRPr lang="en-US"/>
          </a:p>
        </p:txBody>
      </p:sp>
    </p:spTree>
    <p:extLst>
      <p:ext uri="{BB962C8B-B14F-4D97-AF65-F5344CB8AC3E}">
        <p14:creationId xmlns:p14="http://schemas.microsoft.com/office/powerpoint/2010/main" val="3267211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7BE03-CE2F-0589-D84F-7D2D1E51C858}"/>
              </a:ext>
            </a:extLst>
          </p:cNvPr>
          <p:cNvSpPr>
            <a:spLocks noGrp="1"/>
          </p:cNvSpPr>
          <p:nvPr>
            <p:ph type="title"/>
          </p:nvPr>
        </p:nvSpPr>
        <p:spPr/>
        <p:txBody>
          <a:bodyPr/>
          <a:lstStyle/>
          <a:p>
            <a:r>
              <a:rPr lang="en-US" b="0">
                <a:solidFill>
                  <a:srgbClr val="0D0D0D"/>
                </a:solidFill>
                <a:ea typeface="+mj-lt"/>
                <a:cs typeface="+mj-lt"/>
              </a:rPr>
              <a:t>Protecting Patient Data</a:t>
            </a:r>
            <a:endParaRPr lang="en-US"/>
          </a:p>
        </p:txBody>
      </p:sp>
      <p:sp>
        <p:nvSpPr>
          <p:cNvPr id="3" name="Content Placeholder 2">
            <a:extLst>
              <a:ext uri="{FF2B5EF4-FFF2-40B4-BE49-F238E27FC236}">
                <a16:creationId xmlns:a16="http://schemas.microsoft.com/office/drawing/2014/main" id="{69FEE6D4-6348-204D-BDF7-DD30D8BA4A11}"/>
              </a:ext>
            </a:extLst>
          </p:cNvPr>
          <p:cNvSpPr>
            <a:spLocks noGrp="1"/>
          </p:cNvSpPr>
          <p:nvPr>
            <p:ph sz="quarter" idx="13"/>
          </p:nvPr>
        </p:nvSpPr>
        <p:spPr/>
        <p:txBody>
          <a:bodyPr vert="horz" lIns="0" tIns="228600" rIns="0" bIns="0" rtlCol="0" anchor="t">
            <a:normAutofit/>
          </a:bodyPr>
          <a:lstStyle/>
          <a:p>
            <a:pPr marL="342900" indent="-342900"/>
            <a:r>
              <a:rPr lang="en-US" b="0">
                <a:solidFill>
                  <a:srgbClr val="0D0D0D"/>
                </a:solidFill>
                <a:ea typeface="+mn-lt"/>
                <a:cs typeface="+mn-lt"/>
              </a:rPr>
              <a:t>Security measures </a:t>
            </a:r>
            <a:endParaRPr lang="en-US"/>
          </a:p>
          <a:p>
            <a:pPr marL="342900" indent="-342900"/>
            <a:r>
              <a:rPr lang="en-US" b="0">
                <a:solidFill>
                  <a:srgbClr val="0D0D0D"/>
                </a:solidFill>
                <a:ea typeface="+mn-lt"/>
                <a:cs typeface="+mn-lt"/>
              </a:rPr>
              <a:t>(SSL/TLS)</a:t>
            </a:r>
            <a:endParaRPr lang="en-US"/>
          </a:p>
          <a:p>
            <a:pPr marL="342900" indent="-342900"/>
            <a:r>
              <a:rPr lang="en-US" b="0">
                <a:solidFill>
                  <a:srgbClr val="0D0D0D"/>
                </a:solidFill>
                <a:ea typeface="+mn-lt"/>
                <a:cs typeface="+mn-lt"/>
              </a:rPr>
              <a:t>Multifactor Authentication</a:t>
            </a:r>
          </a:p>
          <a:p>
            <a:pPr marL="342900" indent="-342900"/>
            <a:r>
              <a:rPr lang="en-US" b="0">
                <a:solidFill>
                  <a:srgbClr val="0D0D0D"/>
                </a:solidFill>
                <a:ea typeface="+mn-lt"/>
                <a:cs typeface="+mn-lt"/>
              </a:rPr>
              <a:t>Following rules is very important, especially in the United States for healthcare organizations. They need to stick to something called the Health Insurance Portability and Accountability Act (HIPAA).</a:t>
            </a:r>
          </a:p>
        </p:txBody>
      </p:sp>
    </p:spTree>
    <p:extLst>
      <p:ext uri="{BB962C8B-B14F-4D97-AF65-F5344CB8AC3E}">
        <p14:creationId xmlns:p14="http://schemas.microsoft.com/office/powerpoint/2010/main" val="3214197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2A23-5F34-6AD0-B78E-ACBF23A9D7A7}"/>
              </a:ext>
            </a:extLst>
          </p:cNvPr>
          <p:cNvSpPr>
            <a:spLocks noGrp="1"/>
          </p:cNvSpPr>
          <p:nvPr>
            <p:ph type="title"/>
          </p:nvPr>
        </p:nvSpPr>
        <p:spPr/>
        <p:txBody>
          <a:bodyPr/>
          <a:lstStyle/>
          <a:p>
            <a:r>
              <a:rPr lang="en-US" b="0">
                <a:ea typeface="+mj-lt"/>
                <a:cs typeface="+mj-lt"/>
              </a:rPr>
              <a:t>Ensuring Security and Trust</a:t>
            </a:r>
            <a:endParaRPr lang="en-US">
              <a:ea typeface="+mj-lt"/>
              <a:cs typeface="+mj-lt"/>
            </a:endParaRPr>
          </a:p>
        </p:txBody>
      </p:sp>
      <p:sp>
        <p:nvSpPr>
          <p:cNvPr id="3" name="Content Placeholder 2">
            <a:extLst>
              <a:ext uri="{FF2B5EF4-FFF2-40B4-BE49-F238E27FC236}">
                <a16:creationId xmlns:a16="http://schemas.microsoft.com/office/drawing/2014/main" id="{2AC8ADEA-BDF9-0DF2-8211-D482C5747330}"/>
              </a:ext>
            </a:extLst>
          </p:cNvPr>
          <p:cNvSpPr>
            <a:spLocks noGrp="1"/>
          </p:cNvSpPr>
          <p:nvPr>
            <p:ph sz="quarter" idx="13"/>
          </p:nvPr>
        </p:nvSpPr>
        <p:spPr>
          <a:xfrm>
            <a:off x="594359" y="2350567"/>
            <a:ext cx="6787747" cy="3708517"/>
          </a:xfrm>
        </p:spPr>
        <p:txBody>
          <a:bodyPr vert="horz" lIns="0" tIns="228600" rIns="0" bIns="0" rtlCol="0" anchor="t">
            <a:normAutofit/>
          </a:bodyPr>
          <a:lstStyle/>
          <a:p>
            <a:pPr marL="283210" indent="-283210"/>
            <a:r>
              <a:rPr lang="en-US" b="0">
                <a:solidFill>
                  <a:srgbClr val="0D0D0D"/>
                </a:solidFill>
                <a:ea typeface="+mn-lt"/>
                <a:cs typeface="+mn-lt"/>
              </a:rPr>
              <a:t>Data protection strategies, including regular data backups and disaster recovery plans, are essential components of teleradiology systems to prevent data loss and mitigate the impact of cybersecurity breaches.</a:t>
            </a:r>
            <a:endParaRPr lang="en-US"/>
          </a:p>
          <a:p>
            <a:pPr marL="342900" indent="-342900"/>
            <a:r>
              <a:rPr lang="en-US" b="0">
                <a:solidFill>
                  <a:srgbClr val="0D0D0D"/>
                </a:solidFill>
                <a:ea typeface="+mn-lt"/>
                <a:cs typeface="+mn-lt"/>
              </a:rPr>
              <a:t>In conclusion, prioritizing privacy and cybersecurity in teleradiology is essential for maintaining patient trust and integrity in healthcare delivery.</a:t>
            </a:r>
            <a:br>
              <a:rPr lang="en-US"/>
            </a:br>
            <a:endParaRPr lang="en-US"/>
          </a:p>
        </p:txBody>
      </p:sp>
    </p:spTree>
    <p:extLst>
      <p:ext uri="{BB962C8B-B14F-4D97-AF65-F5344CB8AC3E}">
        <p14:creationId xmlns:p14="http://schemas.microsoft.com/office/powerpoint/2010/main" val="1203923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4CA79-5F6B-844B-A9B1-2201E0174644}"/>
              </a:ext>
            </a:extLst>
          </p:cNvPr>
          <p:cNvSpPr>
            <a:spLocks noGrp="1"/>
          </p:cNvSpPr>
          <p:nvPr>
            <p:ph type="title"/>
          </p:nvPr>
        </p:nvSpPr>
        <p:spPr/>
        <p:txBody>
          <a:bodyPr/>
          <a:lstStyle/>
          <a:p>
            <a:r>
              <a:rPr lang="en-US">
                <a:ea typeface="+mj-lt"/>
                <a:cs typeface="+mj-lt"/>
              </a:rPr>
              <a:t>Usability Factors in Teleradiology</a:t>
            </a:r>
            <a:endParaRPr lang="en-US"/>
          </a:p>
        </p:txBody>
      </p:sp>
      <p:sp>
        <p:nvSpPr>
          <p:cNvPr id="3" name="Content Placeholder 2">
            <a:extLst>
              <a:ext uri="{FF2B5EF4-FFF2-40B4-BE49-F238E27FC236}">
                <a16:creationId xmlns:a16="http://schemas.microsoft.com/office/drawing/2014/main" id="{58952093-8345-C344-F23B-A91C55BEBC6E}"/>
              </a:ext>
            </a:extLst>
          </p:cNvPr>
          <p:cNvSpPr>
            <a:spLocks noGrp="1"/>
          </p:cNvSpPr>
          <p:nvPr>
            <p:ph sz="quarter" idx="13"/>
          </p:nvPr>
        </p:nvSpPr>
        <p:spPr/>
        <p:txBody>
          <a:bodyPr vert="horz" lIns="0" tIns="228600" rIns="0" bIns="0" rtlCol="0" anchor="t">
            <a:normAutofit/>
          </a:bodyPr>
          <a:lstStyle/>
          <a:p>
            <a:pPr marL="283210" indent="-283210"/>
            <a:r>
              <a:rPr lang="en-US" b="0">
                <a:solidFill>
                  <a:srgbClr val="0D0D0D"/>
                </a:solidFill>
                <a:ea typeface="+mn-lt"/>
                <a:cs typeface="+mn-lt"/>
              </a:rPr>
              <a:t>Usability encompasses efficiency, effectiveness, and user satisfaction.</a:t>
            </a:r>
          </a:p>
          <a:p>
            <a:pPr marL="283210" indent="-283210"/>
            <a:r>
              <a:rPr lang="en-US" b="0">
                <a:solidFill>
                  <a:srgbClr val="0D0D0D"/>
                </a:solidFill>
                <a:ea typeface="+mn-lt"/>
                <a:cs typeface="+mn-lt"/>
              </a:rPr>
              <a:t>Streamlined workflows optimize productivity for radiologists.</a:t>
            </a:r>
          </a:p>
          <a:p>
            <a:pPr marL="283210" indent="-283210"/>
            <a:r>
              <a:rPr lang="en-US" b="0">
                <a:solidFill>
                  <a:srgbClr val="0D0D0D"/>
                </a:solidFill>
                <a:ea typeface="+mn-lt"/>
                <a:cs typeface="+mn-lt"/>
              </a:rPr>
              <a:t>Intuitive interfaces aid in efficient image interpretation and navigation.</a:t>
            </a:r>
            <a:endParaRPr lang="en-US" b="0">
              <a:solidFill>
                <a:srgbClr val="0D0D0D"/>
              </a:solidFill>
            </a:endParaRPr>
          </a:p>
        </p:txBody>
      </p:sp>
    </p:spTree>
    <p:extLst>
      <p:ext uri="{BB962C8B-B14F-4D97-AF65-F5344CB8AC3E}">
        <p14:creationId xmlns:p14="http://schemas.microsoft.com/office/powerpoint/2010/main" val="1249272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B7BE-07EA-FFE3-0526-C86BCC78392E}"/>
              </a:ext>
            </a:extLst>
          </p:cNvPr>
          <p:cNvSpPr>
            <a:spLocks noGrp="1"/>
          </p:cNvSpPr>
          <p:nvPr>
            <p:ph type="title"/>
          </p:nvPr>
        </p:nvSpPr>
        <p:spPr/>
        <p:txBody>
          <a:bodyPr/>
          <a:lstStyle/>
          <a:p>
            <a:r>
              <a:rPr lang="en-US">
                <a:solidFill>
                  <a:srgbClr val="0D0D0D"/>
                </a:solidFill>
                <a:ea typeface="+mj-lt"/>
                <a:cs typeface="+mj-lt"/>
              </a:rPr>
              <a:t>User-Centered Design and Continuous Improvement</a:t>
            </a:r>
            <a:endParaRPr lang="en-US"/>
          </a:p>
        </p:txBody>
      </p:sp>
      <p:sp>
        <p:nvSpPr>
          <p:cNvPr id="3" name="Content Placeholder 2">
            <a:extLst>
              <a:ext uri="{FF2B5EF4-FFF2-40B4-BE49-F238E27FC236}">
                <a16:creationId xmlns:a16="http://schemas.microsoft.com/office/drawing/2014/main" id="{421C47CF-9CB7-A9DE-C864-437DEB71D83F}"/>
              </a:ext>
            </a:extLst>
          </p:cNvPr>
          <p:cNvSpPr>
            <a:spLocks noGrp="1"/>
          </p:cNvSpPr>
          <p:nvPr>
            <p:ph sz="quarter" idx="13"/>
          </p:nvPr>
        </p:nvSpPr>
        <p:spPr>
          <a:xfrm>
            <a:off x="594359" y="2298851"/>
            <a:ext cx="6787747" cy="3708517"/>
          </a:xfrm>
        </p:spPr>
        <p:txBody>
          <a:bodyPr vert="horz" lIns="0" tIns="228600" rIns="0" bIns="0" rtlCol="0" anchor="t">
            <a:normAutofit/>
          </a:bodyPr>
          <a:lstStyle/>
          <a:p>
            <a:pPr marL="283210" indent="-283210"/>
            <a:r>
              <a:rPr lang="en-US" b="0">
                <a:solidFill>
                  <a:srgbClr val="0D0D0D"/>
                </a:solidFill>
                <a:ea typeface="+mn-lt"/>
                <a:cs typeface="+mn-lt"/>
              </a:rPr>
              <a:t>Engage radiologists and end-users in design to tailor systems to their needs</a:t>
            </a:r>
          </a:p>
          <a:p>
            <a:pPr marL="283210" indent="-283210"/>
            <a:r>
              <a:rPr lang="en-US" b="0">
                <a:solidFill>
                  <a:srgbClr val="0D0D0D"/>
                </a:solidFill>
                <a:ea typeface="+mn-lt"/>
                <a:cs typeface="+mn-lt"/>
              </a:rPr>
              <a:t>Conduct usability testing to identify and address issues early in the development process.</a:t>
            </a:r>
          </a:p>
          <a:p>
            <a:pPr marL="283210" indent="-283210"/>
            <a:r>
              <a:rPr lang="en-US" b="0">
                <a:solidFill>
                  <a:srgbClr val="0D0D0D"/>
                </a:solidFill>
                <a:ea typeface="+mn-lt"/>
                <a:cs typeface="+mn-lt"/>
              </a:rPr>
              <a:t>Regular updates ensure systems evolve with user needs and technological advancements.</a:t>
            </a:r>
            <a:br>
              <a:rPr lang="en-US" b="0">
                <a:ea typeface="+mn-lt"/>
                <a:cs typeface="+mn-lt"/>
              </a:rPr>
            </a:br>
            <a:endParaRPr lang="en-US" b="0">
              <a:solidFill>
                <a:srgbClr val="0D0D0D"/>
              </a:solidFill>
              <a:ea typeface="+mn-lt"/>
              <a:cs typeface="+mn-lt"/>
            </a:endParaRPr>
          </a:p>
        </p:txBody>
      </p:sp>
    </p:spTree>
    <p:extLst>
      <p:ext uri="{BB962C8B-B14F-4D97-AF65-F5344CB8AC3E}">
        <p14:creationId xmlns:p14="http://schemas.microsoft.com/office/powerpoint/2010/main" val="2640112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B9214-D351-6AC4-DADE-5AA2ACB5C28C}"/>
              </a:ext>
            </a:extLst>
          </p:cNvPr>
          <p:cNvSpPr>
            <a:spLocks noGrp="1"/>
          </p:cNvSpPr>
          <p:nvPr>
            <p:ph type="title"/>
          </p:nvPr>
        </p:nvSpPr>
        <p:spPr/>
        <p:txBody>
          <a:bodyPr/>
          <a:lstStyle/>
          <a:p>
            <a:r>
              <a:rPr lang="en-US"/>
              <a:t>Outcomes Measured  </a:t>
            </a:r>
          </a:p>
        </p:txBody>
      </p:sp>
      <p:sp>
        <p:nvSpPr>
          <p:cNvPr id="3" name="Content Placeholder 2">
            <a:extLst>
              <a:ext uri="{FF2B5EF4-FFF2-40B4-BE49-F238E27FC236}">
                <a16:creationId xmlns:a16="http://schemas.microsoft.com/office/drawing/2014/main" id="{88DA1FB6-8890-9AEC-BFC1-ABC986E5FB90}"/>
              </a:ext>
            </a:extLst>
          </p:cNvPr>
          <p:cNvSpPr>
            <a:spLocks noGrp="1"/>
          </p:cNvSpPr>
          <p:nvPr>
            <p:ph sz="quarter" idx="13"/>
          </p:nvPr>
        </p:nvSpPr>
        <p:spPr/>
        <p:txBody>
          <a:bodyPr>
            <a:normAutofit fontScale="92500" lnSpcReduction="10000"/>
          </a:bodyPr>
          <a:lstStyle/>
          <a:p>
            <a:pPr marL="0" indent="0">
              <a:buNone/>
            </a:pPr>
            <a:r>
              <a:rPr lang="en-US" sz="1900"/>
              <a:t>What will be measured? </a:t>
            </a:r>
          </a:p>
          <a:p>
            <a:r>
              <a:rPr lang="en-US" sz="1700">
                <a:solidFill>
                  <a:schemeClr val="bg1"/>
                </a:solidFill>
              </a:rPr>
              <a:t>Population Health</a:t>
            </a:r>
          </a:p>
          <a:p>
            <a:pPr lvl="1"/>
            <a:r>
              <a:rPr lang="en-US" sz="1300"/>
              <a:t>Accurate Diagnoses</a:t>
            </a:r>
          </a:p>
          <a:p>
            <a:pPr lvl="1"/>
            <a:r>
              <a:rPr lang="en-US" sz="1300"/>
              <a:t>Clinical Outcomes</a:t>
            </a:r>
          </a:p>
          <a:p>
            <a:pPr lvl="1"/>
            <a:r>
              <a:rPr lang="en-US" sz="1300">
                <a:solidFill>
                  <a:schemeClr val="bg1"/>
                </a:solidFill>
              </a:rPr>
              <a:t>Patient Satisfaction</a:t>
            </a:r>
          </a:p>
          <a:p>
            <a:r>
              <a:rPr lang="en-US" sz="1700">
                <a:solidFill>
                  <a:schemeClr val="bg1"/>
                </a:solidFill>
              </a:rPr>
              <a:t>Staff Satisfaction</a:t>
            </a:r>
          </a:p>
          <a:p>
            <a:pPr lvl="1"/>
            <a:r>
              <a:rPr lang="en-US" sz="1300">
                <a:solidFill>
                  <a:schemeClr val="bg1"/>
                </a:solidFill>
              </a:rPr>
              <a:t>Work-life </a:t>
            </a:r>
            <a:r>
              <a:rPr lang="en-US" sz="1300"/>
              <a:t>B</a:t>
            </a:r>
            <a:r>
              <a:rPr lang="en-US" sz="1300">
                <a:solidFill>
                  <a:schemeClr val="bg1"/>
                </a:solidFill>
              </a:rPr>
              <a:t>alance</a:t>
            </a:r>
          </a:p>
          <a:p>
            <a:pPr lvl="1"/>
            <a:r>
              <a:rPr lang="en-US" sz="1300">
                <a:solidFill>
                  <a:schemeClr val="bg1"/>
                </a:solidFill>
              </a:rPr>
              <a:t>Staff Burnout</a:t>
            </a:r>
          </a:p>
          <a:p>
            <a:pPr lvl="1"/>
            <a:r>
              <a:rPr lang="en-US" sz="1300"/>
              <a:t>Assessing satisfaction with teleradiology implementation</a:t>
            </a:r>
            <a:endParaRPr lang="en-US" sz="1300">
              <a:solidFill>
                <a:schemeClr val="bg1"/>
              </a:solidFill>
            </a:endParaRPr>
          </a:p>
          <a:p>
            <a:r>
              <a:rPr lang="en-US" sz="1700">
                <a:solidFill>
                  <a:schemeClr val="bg1"/>
                </a:solidFill>
              </a:rPr>
              <a:t>Efficiency and Workflow</a:t>
            </a:r>
          </a:p>
          <a:p>
            <a:pPr lvl="1"/>
            <a:r>
              <a:rPr lang="en-US" sz="1300">
                <a:solidFill>
                  <a:schemeClr val="bg1"/>
                </a:solidFill>
              </a:rPr>
              <a:t>Turnaround time</a:t>
            </a:r>
          </a:p>
          <a:p>
            <a:pPr lvl="1"/>
            <a:r>
              <a:rPr lang="en-US" sz="1300">
                <a:solidFill>
                  <a:schemeClr val="bg1"/>
                </a:solidFill>
              </a:rPr>
              <a:t>Number of cases processed</a:t>
            </a:r>
          </a:p>
          <a:p>
            <a:endParaRPr lang="en-US">
              <a:solidFill>
                <a:schemeClr val="bg1"/>
              </a:solidFill>
            </a:endParaRPr>
          </a:p>
        </p:txBody>
      </p:sp>
      <p:pic>
        <p:nvPicPr>
          <p:cNvPr id="6" name="New Recording 7">
            <a:hlinkClick r:id="" action="ppaction://media"/>
            <a:extLst>
              <a:ext uri="{FF2B5EF4-FFF2-40B4-BE49-F238E27FC236}">
                <a16:creationId xmlns:a16="http://schemas.microsoft.com/office/drawing/2014/main" id="{87350510-E32B-78A6-011B-89DD24A6662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34482" y="253219"/>
            <a:ext cx="730250" cy="730250"/>
          </a:xfrm>
          <a:prstGeom prst="rect">
            <a:avLst/>
          </a:prstGeom>
        </p:spPr>
      </p:pic>
    </p:spTree>
    <p:extLst>
      <p:ext uri="{BB962C8B-B14F-4D97-AF65-F5344CB8AC3E}">
        <p14:creationId xmlns:p14="http://schemas.microsoft.com/office/powerpoint/2010/main" val="16900489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nextCondLst>
                <p:cond evt="onClick" delay="0">
                  <p:tgtEl>
                    <p:spTgt spid="6"/>
                  </p:tgtEl>
                </p:cond>
              </p:nextCondLst>
            </p:seq>
            <p:audio>
              <p:cMediaNode>
                <p:cTn id="7" fill="hold" display="0">
                  <p:stCondLst>
                    <p:cond delay="indefinite"/>
                  </p:stCondLst>
                  <p:endCondLst>
                    <p:cond evt="onStopAudio" delay="0">
                      <p:tgtEl>
                        <p:sldTgt/>
                      </p:tgtEl>
                    </p:cond>
                  </p:endCondLst>
                </p:cTn>
                <p:tgtEl>
                  <p:spTgt spid="6"/>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B9214-D351-6AC4-DADE-5AA2ACB5C28C}"/>
              </a:ext>
            </a:extLst>
          </p:cNvPr>
          <p:cNvSpPr>
            <a:spLocks noGrp="1"/>
          </p:cNvSpPr>
          <p:nvPr>
            <p:ph type="title"/>
          </p:nvPr>
        </p:nvSpPr>
        <p:spPr/>
        <p:txBody>
          <a:bodyPr/>
          <a:lstStyle/>
          <a:p>
            <a:r>
              <a:rPr lang="en-US"/>
              <a:t>Outcomes Measured  </a:t>
            </a:r>
          </a:p>
        </p:txBody>
      </p:sp>
      <p:sp>
        <p:nvSpPr>
          <p:cNvPr id="3" name="Content Placeholder 2">
            <a:extLst>
              <a:ext uri="{FF2B5EF4-FFF2-40B4-BE49-F238E27FC236}">
                <a16:creationId xmlns:a16="http://schemas.microsoft.com/office/drawing/2014/main" id="{88DA1FB6-8890-9AEC-BFC1-ABC986E5FB90}"/>
              </a:ext>
            </a:extLst>
          </p:cNvPr>
          <p:cNvSpPr>
            <a:spLocks noGrp="1"/>
          </p:cNvSpPr>
          <p:nvPr>
            <p:ph sz="quarter" idx="13"/>
          </p:nvPr>
        </p:nvSpPr>
        <p:spPr/>
        <p:txBody>
          <a:bodyPr>
            <a:normAutofit/>
          </a:bodyPr>
          <a:lstStyle/>
          <a:p>
            <a:pPr marL="0" indent="0">
              <a:buNone/>
            </a:pPr>
            <a:r>
              <a:rPr lang="en-US" sz="1900"/>
              <a:t>How will it be measured? </a:t>
            </a:r>
          </a:p>
          <a:p>
            <a:r>
              <a:rPr lang="en-US" sz="1700">
                <a:solidFill>
                  <a:schemeClr val="bg1"/>
                </a:solidFill>
              </a:rPr>
              <a:t>Patient Satisfaction</a:t>
            </a:r>
          </a:p>
          <a:p>
            <a:pPr lvl="1"/>
            <a:r>
              <a:rPr lang="en-US" sz="1300">
                <a:solidFill>
                  <a:schemeClr val="bg1"/>
                </a:solidFill>
              </a:rPr>
              <a:t>Survey Responses</a:t>
            </a:r>
          </a:p>
          <a:p>
            <a:pPr lvl="1"/>
            <a:r>
              <a:rPr lang="en-US" sz="1300"/>
              <a:t>Patient Follow-ups</a:t>
            </a:r>
          </a:p>
          <a:p>
            <a:pPr lvl="1"/>
            <a:r>
              <a:rPr lang="en-US" sz="1300"/>
              <a:t> Wait Times</a:t>
            </a:r>
            <a:endParaRPr lang="en-US" sz="1300">
              <a:solidFill>
                <a:schemeClr val="bg1"/>
              </a:solidFill>
            </a:endParaRPr>
          </a:p>
          <a:p>
            <a:r>
              <a:rPr lang="en-US" sz="1700">
                <a:solidFill>
                  <a:schemeClr val="bg1"/>
                </a:solidFill>
              </a:rPr>
              <a:t>Staff Surveys </a:t>
            </a:r>
          </a:p>
          <a:p>
            <a:pPr lvl="1"/>
            <a:r>
              <a:rPr lang="en-US" sz="1300"/>
              <a:t>Burnout, Technology Satisfaction, etc. </a:t>
            </a:r>
            <a:endParaRPr lang="en-US" sz="1300">
              <a:solidFill>
                <a:schemeClr val="bg1"/>
              </a:solidFill>
            </a:endParaRPr>
          </a:p>
          <a:p>
            <a:pPr lvl="1"/>
            <a:r>
              <a:rPr lang="en-US" sz="1300"/>
              <a:t>1-month</a:t>
            </a:r>
          </a:p>
          <a:p>
            <a:pPr lvl="1"/>
            <a:r>
              <a:rPr lang="en-US" sz="1300"/>
              <a:t>6-month</a:t>
            </a:r>
          </a:p>
          <a:p>
            <a:pPr lvl="1"/>
            <a:r>
              <a:rPr lang="en-US" sz="1300"/>
              <a:t>12-month</a:t>
            </a:r>
            <a:endParaRPr lang="en-US" sz="1400">
              <a:solidFill>
                <a:schemeClr val="bg1"/>
              </a:solidFill>
            </a:endParaRPr>
          </a:p>
          <a:p>
            <a:pPr lvl="1"/>
            <a:endParaRPr lang="en-US" sz="1300"/>
          </a:p>
        </p:txBody>
      </p:sp>
      <p:pic>
        <p:nvPicPr>
          <p:cNvPr id="4" name="New Recording 8">
            <a:hlinkClick r:id="" action="ppaction://media"/>
            <a:extLst>
              <a:ext uri="{FF2B5EF4-FFF2-40B4-BE49-F238E27FC236}">
                <a16:creationId xmlns:a16="http://schemas.microsoft.com/office/drawing/2014/main" id="{2C11F135-E929-A051-17D7-8E767FD909D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38724" y="260290"/>
            <a:ext cx="730250" cy="730250"/>
          </a:xfrm>
          <a:prstGeom prst="rect">
            <a:avLst/>
          </a:prstGeom>
        </p:spPr>
      </p:pic>
    </p:spTree>
    <p:extLst>
      <p:ext uri="{BB962C8B-B14F-4D97-AF65-F5344CB8AC3E}">
        <p14:creationId xmlns:p14="http://schemas.microsoft.com/office/powerpoint/2010/main" val="339022239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nextCondLst>
                <p:cond evt="onClick" delay="0">
                  <p:tgtEl>
                    <p:spTgt spid="4"/>
                  </p:tgtEl>
                </p:cond>
              </p:nextCondLst>
            </p:seq>
            <p:audio>
              <p:cMediaNode>
                <p:cTn id="7" fill="hold" display="0">
                  <p:stCondLst>
                    <p:cond delay="indefinite"/>
                  </p:stCondLst>
                  <p:endCondLst>
                    <p:cond evt="onStopAudio" delay="0">
                      <p:tgtEl>
                        <p:sldTgt/>
                      </p:tgtEl>
                    </p:cond>
                  </p:endCondLst>
                </p:cTn>
                <p:tgtEl>
                  <p:spTgt spid="4"/>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208A6-9595-54FF-CA18-69CE181534C1}"/>
              </a:ext>
            </a:extLst>
          </p:cNvPr>
          <p:cNvSpPr>
            <a:spLocks noGrp="1"/>
          </p:cNvSpPr>
          <p:nvPr>
            <p:ph type="title"/>
          </p:nvPr>
        </p:nvSpPr>
        <p:spPr/>
        <p:txBody>
          <a:bodyPr/>
          <a:lstStyle/>
          <a:p>
            <a:r>
              <a:rPr lang="en-US"/>
              <a:t>Conclusion </a:t>
            </a:r>
          </a:p>
        </p:txBody>
      </p:sp>
      <p:sp>
        <p:nvSpPr>
          <p:cNvPr id="3" name="Content Placeholder 2">
            <a:extLst>
              <a:ext uri="{FF2B5EF4-FFF2-40B4-BE49-F238E27FC236}">
                <a16:creationId xmlns:a16="http://schemas.microsoft.com/office/drawing/2014/main" id="{15E898D2-8A70-559A-1A3C-EB2E3ADCFACF}"/>
              </a:ext>
            </a:extLst>
          </p:cNvPr>
          <p:cNvSpPr>
            <a:spLocks noGrp="1"/>
          </p:cNvSpPr>
          <p:nvPr>
            <p:ph sz="quarter" idx="13"/>
          </p:nvPr>
        </p:nvSpPr>
        <p:spPr>
          <a:xfrm>
            <a:off x="467979" y="2415732"/>
            <a:ext cx="6728276" cy="3888423"/>
          </a:xfrm>
        </p:spPr>
        <p:txBody>
          <a:bodyPr>
            <a:normAutofit/>
          </a:bodyPr>
          <a:lstStyle/>
          <a:p>
            <a:r>
              <a:rPr lang="en-US" b="0">
                <a:solidFill>
                  <a:schemeClr val="bg1"/>
                </a:solidFill>
              </a:rPr>
              <a:t>Teleradiology is backed by previous implementations </a:t>
            </a:r>
          </a:p>
          <a:p>
            <a:r>
              <a:rPr lang="en-US" b="0">
                <a:solidFill>
                  <a:schemeClr val="bg1"/>
                </a:solidFill>
              </a:rPr>
              <a:t>Infinity Teleradiology was the clear choice in solving the ER’s problems</a:t>
            </a:r>
          </a:p>
          <a:p>
            <a:r>
              <a:rPr lang="en-US" b="0">
                <a:solidFill>
                  <a:schemeClr val="bg1"/>
                </a:solidFill>
              </a:rPr>
              <a:t>Solves radiologist burnout and patient dissatisfaction </a:t>
            </a:r>
          </a:p>
          <a:p>
            <a:r>
              <a:rPr lang="en-US" b="0">
                <a:solidFill>
                  <a:schemeClr val="bg1"/>
                </a:solidFill>
              </a:rPr>
              <a:t>Implementation requires initial work </a:t>
            </a:r>
          </a:p>
          <a:p>
            <a:endParaRPr lang="en-US" sz="2800" b="0">
              <a:solidFill>
                <a:schemeClr val="bg1"/>
              </a:solidFill>
            </a:endParaRPr>
          </a:p>
        </p:txBody>
      </p:sp>
      <p:pic>
        <p:nvPicPr>
          <p:cNvPr id="4" name="conclusion">
            <a:hlinkClick r:id="" action="ppaction://media"/>
            <a:extLst>
              <a:ext uri="{FF2B5EF4-FFF2-40B4-BE49-F238E27FC236}">
                <a16:creationId xmlns:a16="http://schemas.microsoft.com/office/drawing/2014/main" id="{52C1800B-49F6-6C56-1E50-8677433E9B0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50678" y="438029"/>
            <a:ext cx="487363" cy="487363"/>
          </a:xfrm>
          <a:prstGeom prst="rect">
            <a:avLst/>
          </a:prstGeom>
        </p:spPr>
      </p:pic>
    </p:spTree>
    <p:extLst>
      <p:ext uri="{BB962C8B-B14F-4D97-AF65-F5344CB8AC3E}">
        <p14:creationId xmlns:p14="http://schemas.microsoft.com/office/powerpoint/2010/main" val="321768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47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9D19F-A2AE-72FD-96BE-ADB9F9AC90F5}"/>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AC458CF0-5E07-C8D5-AF19-800482145337}"/>
              </a:ext>
            </a:extLst>
          </p:cNvPr>
          <p:cNvSpPr>
            <a:spLocks noGrp="1"/>
          </p:cNvSpPr>
          <p:nvPr>
            <p:ph sz="quarter" idx="13"/>
          </p:nvPr>
        </p:nvSpPr>
        <p:spPr>
          <a:xfrm>
            <a:off x="594359" y="2281918"/>
            <a:ext cx="11490179" cy="4395003"/>
          </a:xfrm>
        </p:spPr>
        <p:txBody>
          <a:bodyPr vert="horz" lIns="0" tIns="228600" rIns="0" bIns="0" rtlCol="0" anchor="t">
            <a:normAutofit fontScale="77500" lnSpcReduction="20000"/>
          </a:bodyPr>
          <a:lstStyle/>
          <a:p>
            <a:pPr marL="283210" indent="-283210"/>
            <a:r>
              <a:rPr lang="en-US" sz="1200" b="0">
                <a:solidFill>
                  <a:schemeClr val="bg1"/>
                </a:solidFill>
                <a:latin typeface="Franklin Gothic Book"/>
                <a:cs typeface="Times New Roman"/>
              </a:rPr>
              <a:t>Henes, F. O., Stappenbeck, P., Tahir, E., Koehler, A., </a:t>
            </a:r>
            <a:r>
              <a:rPr lang="en-US" sz="1200" b="0" err="1">
                <a:solidFill>
                  <a:schemeClr val="bg1"/>
                </a:solidFill>
                <a:latin typeface="Franklin Gothic Book"/>
                <a:cs typeface="Times New Roman"/>
              </a:rPr>
              <a:t>Petutschnigg</a:t>
            </a:r>
            <a:r>
              <a:rPr lang="en-US" sz="1200" b="0">
                <a:solidFill>
                  <a:schemeClr val="bg1"/>
                </a:solidFill>
                <a:latin typeface="Franklin Gothic Book"/>
                <a:cs typeface="Times New Roman"/>
              </a:rPr>
              <a:t>, B., Adam, G., &amp; Bannas, P. (2020). Implementation of a 24-Hour teleradiology service for cruise ships: a pilot study. </a:t>
            </a:r>
            <a:r>
              <a:rPr lang="en-US" sz="1200" b="0" i="1">
                <a:solidFill>
                  <a:schemeClr val="bg1"/>
                </a:solidFill>
                <a:latin typeface="Franklin Gothic Book"/>
                <a:cs typeface="Times New Roman"/>
              </a:rPr>
              <a:t>American Journal of Roentgenology</a:t>
            </a:r>
            <a:r>
              <a:rPr lang="en-US" sz="1200" b="0">
                <a:solidFill>
                  <a:schemeClr val="bg1"/>
                </a:solidFill>
                <a:latin typeface="Franklin Gothic Book"/>
                <a:cs typeface="Times New Roman"/>
              </a:rPr>
              <a:t>, </a:t>
            </a:r>
            <a:r>
              <a:rPr lang="en-US" sz="1200" b="0" i="1">
                <a:solidFill>
                  <a:schemeClr val="bg1"/>
                </a:solidFill>
                <a:latin typeface="Franklin Gothic Book"/>
                <a:cs typeface="Times New Roman"/>
              </a:rPr>
              <a:t>214</a:t>
            </a:r>
            <a:r>
              <a:rPr lang="en-US" sz="1200" b="0">
                <a:solidFill>
                  <a:schemeClr val="bg1"/>
                </a:solidFill>
                <a:latin typeface="Franklin Gothic Book"/>
                <a:cs typeface="Times New Roman"/>
              </a:rPr>
              <a:t>(4), 754–760. </a:t>
            </a:r>
            <a:r>
              <a:rPr lang="en-US" sz="1200" b="0">
                <a:solidFill>
                  <a:schemeClr val="bg1"/>
                </a:solidFill>
                <a:latin typeface="Franklin Gothic Book"/>
                <a:cs typeface="Times New Roman"/>
                <a:hlinkClick r:id="rId2">
                  <a:extLst>
                    <a:ext uri="{A12FA001-AC4F-418D-AE19-62706E023703}">
                      <ahyp:hlinkClr xmlns:ahyp="http://schemas.microsoft.com/office/drawing/2018/hyperlinkcolor" val="tx"/>
                    </a:ext>
                  </a:extLst>
                </a:hlinkClick>
              </a:rPr>
              <a:t>https://</a:t>
            </a:r>
            <a:r>
              <a:rPr lang="en-US" sz="1200" b="0" err="1">
                <a:solidFill>
                  <a:schemeClr val="bg1"/>
                </a:solidFill>
                <a:latin typeface="Franklin Gothic Book"/>
                <a:cs typeface="Times New Roman"/>
                <a:hlinkClick r:id="rId2">
                  <a:extLst>
                    <a:ext uri="{A12FA001-AC4F-418D-AE19-62706E023703}">
                      <ahyp:hlinkClr xmlns:ahyp="http://schemas.microsoft.com/office/drawing/2018/hyperlinkcolor" val="tx"/>
                    </a:ext>
                  </a:extLst>
                </a:hlinkClick>
              </a:rPr>
              <a:t>doi.org</a:t>
            </a:r>
            <a:r>
              <a:rPr lang="en-US" sz="1200" b="0">
                <a:solidFill>
                  <a:schemeClr val="bg1"/>
                </a:solidFill>
                <a:latin typeface="Franklin Gothic Book"/>
                <a:cs typeface="Times New Roman"/>
                <a:hlinkClick r:id="rId2">
                  <a:extLst>
                    <a:ext uri="{A12FA001-AC4F-418D-AE19-62706E023703}">
                      <ahyp:hlinkClr xmlns:ahyp="http://schemas.microsoft.com/office/drawing/2018/hyperlinkcolor" val="tx"/>
                    </a:ext>
                  </a:extLst>
                </a:hlinkClick>
              </a:rPr>
              <a:t>/10.2214/</a:t>
            </a:r>
            <a:r>
              <a:rPr lang="en-US" sz="1200" b="0" err="1">
                <a:solidFill>
                  <a:schemeClr val="bg1"/>
                </a:solidFill>
                <a:latin typeface="Franklin Gothic Book"/>
                <a:cs typeface="Times New Roman"/>
                <a:hlinkClick r:id="rId2">
                  <a:extLst>
                    <a:ext uri="{A12FA001-AC4F-418D-AE19-62706E023703}">
                      <ahyp:hlinkClr xmlns:ahyp="http://schemas.microsoft.com/office/drawing/2018/hyperlinkcolor" val="tx"/>
                    </a:ext>
                  </a:extLst>
                </a:hlinkClick>
              </a:rPr>
              <a:t>ajr.19.21794</a:t>
            </a:r>
            <a:endParaRPr lang="en-US">
              <a:solidFill>
                <a:schemeClr val="bg1"/>
              </a:solidFill>
              <a:latin typeface="Franklin Gothic Book"/>
              <a:hlinkClick r:id="rId2">
                <a:extLst>
                  <a:ext uri="{A12FA001-AC4F-418D-AE19-62706E023703}">
                    <ahyp:hlinkClr xmlns:ahyp="http://schemas.microsoft.com/office/drawing/2018/hyperlinkcolor" val="tx"/>
                  </a:ext>
                </a:extLst>
              </a:hlinkClick>
            </a:endParaRPr>
          </a:p>
          <a:p>
            <a:pPr marL="283210" indent="-283210"/>
            <a:r>
              <a:rPr lang="en-US" sz="1200" b="0">
                <a:solidFill>
                  <a:schemeClr val="bg1"/>
                </a:solidFill>
                <a:latin typeface="Franklin Gothic Book"/>
                <a:cs typeface="Times New Roman"/>
              </a:rPr>
              <a:t>Horn, B. D., Chang, D., </a:t>
            </a:r>
            <a:r>
              <a:rPr lang="en-US" sz="1200" b="0" err="1">
                <a:solidFill>
                  <a:schemeClr val="bg1"/>
                </a:solidFill>
                <a:latin typeface="Franklin Gothic Book"/>
                <a:cs typeface="Times New Roman"/>
              </a:rPr>
              <a:t>Bendelstein</a:t>
            </a:r>
            <a:r>
              <a:rPr lang="en-US" sz="1200" b="0">
                <a:solidFill>
                  <a:schemeClr val="bg1"/>
                </a:solidFill>
                <a:latin typeface="Franklin Gothic Book"/>
                <a:cs typeface="Times New Roman"/>
              </a:rPr>
              <a:t>, J., &amp; Hiatt, J. C. (2006). Implementation of a teleradiology system to improve After-Hours radiology services in Kaiser Permanente Southern California. </a:t>
            </a:r>
            <a:r>
              <a:rPr lang="en-US" sz="1200" b="0" i="1">
                <a:solidFill>
                  <a:schemeClr val="bg1"/>
                </a:solidFill>
                <a:latin typeface="Franklin Gothic Book"/>
                <a:cs typeface="Times New Roman"/>
              </a:rPr>
              <a:t>The Permanente Journal</a:t>
            </a:r>
            <a:r>
              <a:rPr lang="en-US" sz="1200" b="0">
                <a:solidFill>
                  <a:schemeClr val="bg1"/>
                </a:solidFill>
                <a:latin typeface="Franklin Gothic Book"/>
                <a:cs typeface="Times New Roman"/>
              </a:rPr>
              <a:t>, </a:t>
            </a:r>
            <a:r>
              <a:rPr lang="en-US" sz="1200" b="0" i="1">
                <a:solidFill>
                  <a:schemeClr val="bg1"/>
                </a:solidFill>
                <a:latin typeface="Franklin Gothic Book"/>
                <a:cs typeface="Times New Roman"/>
              </a:rPr>
              <a:t>10</a:t>
            </a:r>
            <a:r>
              <a:rPr lang="en-US" sz="1200" b="0">
                <a:solidFill>
                  <a:schemeClr val="bg1"/>
                </a:solidFill>
                <a:latin typeface="Franklin Gothic Book"/>
                <a:cs typeface="Times New Roman"/>
              </a:rPr>
              <a:t>(1), 47–50.,</a:t>
            </a:r>
            <a:endParaRPr lang="en-US">
              <a:solidFill>
                <a:schemeClr val="bg1"/>
              </a:solidFill>
              <a:latin typeface="Franklin Gothic Book"/>
              <a:hlinkClick r:id="rId3">
                <a:extLst>
                  <a:ext uri="{A12FA001-AC4F-418D-AE19-62706E023703}">
                    <ahyp:hlinkClr xmlns:ahyp="http://schemas.microsoft.com/office/drawing/2018/hyperlinkcolor" val="tx"/>
                  </a:ext>
                </a:extLst>
              </a:hlinkClick>
            </a:endParaRPr>
          </a:p>
          <a:p>
            <a:pPr marL="283210" indent="-283210"/>
            <a:r>
              <a:rPr lang="en-US" sz="1200" b="0" err="1">
                <a:solidFill>
                  <a:schemeClr val="bg1"/>
                </a:solidFill>
                <a:latin typeface="Franklin Gothic Book"/>
                <a:cs typeface="Times New Roman"/>
              </a:rPr>
              <a:t>Krupiński</a:t>
            </a:r>
            <a:r>
              <a:rPr lang="en-US" sz="1200" b="0">
                <a:solidFill>
                  <a:schemeClr val="bg1"/>
                </a:solidFill>
                <a:latin typeface="Franklin Gothic Book"/>
                <a:cs typeface="Times New Roman"/>
              </a:rPr>
              <a:t>, E. A., &amp; Hopper, L. (1997). Teleradiology in Rural Arizona: User’s perspective. </a:t>
            </a:r>
            <a:r>
              <a:rPr lang="en-US" sz="1200" b="0" i="1">
                <a:solidFill>
                  <a:schemeClr val="bg1"/>
                </a:solidFill>
                <a:latin typeface="Franklin Gothic Book"/>
                <a:cs typeface="Times New Roman"/>
              </a:rPr>
              <a:t>Proceedings of SPIE</a:t>
            </a:r>
            <a:r>
              <a:rPr lang="en-US" sz="1200" b="0">
                <a:solidFill>
                  <a:schemeClr val="bg1"/>
                </a:solidFill>
                <a:latin typeface="Franklin Gothic Book"/>
                <a:cs typeface="Times New Roman"/>
              </a:rPr>
              <a:t>. </a:t>
            </a:r>
            <a:r>
              <a:rPr lang="en-US" sz="1200" b="0">
                <a:solidFill>
                  <a:schemeClr val="bg1"/>
                </a:solidFill>
                <a:latin typeface="Franklin Gothic Book"/>
                <a:cs typeface="Times New Roman"/>
                <a:hlinkClick r:id="rId4">
                  <a:extLst>
                    <a:ext uri="{A12FA001-AC4F-418D-AE19-62706E023703}">
                      <ahyp:hlinkClr xmlns:ahyp="http://schemas.microsoft.com/office/drawing/2018/hyperlinkcolor" val="tx"/>
                    </a:ext>
                  </a:extLst>
                </a:hlinkClick>
              </a:rPr>
              <a:t>https://doi.org/10.1117/12.274590</a:t>
            </a:r>
            <a:endParaRPr lang="en-US">
              <a:solidFill>
                <a:schemeClr val="bg1"/>
              </a:solidFill>
              <a:latin typeface="Franklin Gothic Book"/>
              <a:hlinkClick r:id="rId4">
                <a:extLst>
                  <a:ext uri="{A12FA001-AC4F-418D-AE19-62706E023703}">
                    <ahyp:hlinkClr xmlns:ahyp="http://schemas.microsoft.com/office/drawing/2018/hyperlinkcolor" val="tx"/>
                  </a:ext>
                </a:extLst>
              </a:hlinkClick>
            </a:endParaRPr>
          </a:p>
          <a:p>
            <a:pPr marL="283210" indent="-283210"/>
            <a:r>
              <a:rPr lang="en-US" sz="1200" b="0" err="1">
                <a:solidFill>
                  <a:schemeClr val="bg1"/>
                </a:solidFill>
                <a:ea typeface="+mn-lt"/>
                <a:cs typeface="+mn-lt"/>
              </a:rPr>
              <a:t>Arnetz</a:t>
            </a:r>
            <a:r>
              <a:rPr lang="en-US" sz="1200" b="0">
                <a:solidFill>
                  <a:schemeClr val="bg1"/>
                </a:solidFill>
                <a:ea typeface="+mn-lt"/>
                <a:cs typeface="+mn-lt"/>
              </a:rPr>
              <a:t>, B. B., Goetz, C. M., </a:t>
            </a:r>
            <a:r>
              <a:rPr lang="en-US" sz="1200" b="0" err="1">
                <a:solidFill>
                  <a:schemeClr val="bg1"/>
                </a:solidFill>
                <a:ea typeface="+mn-lt"/>
                <a:cs typeface="+mn-lt"/>
              </a:rPr>
              <a:t>Arnetz</a:t>
            </a:r>
            <a:r>
              <a:rPr lang="en-US" sz="1200" b="0">
                <a:solidFill>
                  <a:schemeClr val="bg1"/>
                </a:solidFill>
                <a:ea typeface="+mn-lt"/>
                <a:cs typeface="+mn-lt"/>
              </a:rPr>
              <a:t>, J. E., Sudan, S., </a:t>
            </a:r>
            <a:r>
              <a:rPr lang="en-US" sz="1200" b="0" err="1">
                <a:solidFill>
                  <a:schemeClr val="bg1"/>
                </a:solidFill>
                <a:ea typeface="+mn-lt"/>
                <a:cs typeface="+mn-lt"/>
              </a:rPr>
              <a:t>vanSchagen</a:t>
            </a:r>
            <a:r>
              <a:rPr lang="en-US" sz="1200" b="0">
                <a:solidFill>
                  <a:schemeClr val="bg1"/>
                </a:solidFill>
                <a:ea typeface="+mn-lt"/>
                <a:cs typeface="+mn-lt"/>
              </a:rPr>
              <a:t>, J., Piersma, K., &amp; Reyelts, F. (2020). Enhancing healthcare efficiency to achieve the quadruple aim: An exploratory study. </a:t>
            </a:r>
            <a:r>
              <a:rPr lang="en-US" sz="1200" b="0" i="1">
                <a:solidFill>
                  <a:schemeClr val="bg1"/>
                </a:solidFill>
                <a:ea typeface="+mn-lt"/>
                <a:cs typeface="+mn-lt"/>
              </a:rPr>
              <a:t>BMC Research Notes</a:t>
            </a:r>
            <a:r>
              <a:rPr lang="en-US" sz="1200" b="0">
                <a:solidFill>
                  <a:schemeClr val="bg1"/>
                </a:solidFill>
                <a:ea typeface="+mn-lt"/>
                <a:cs typeface="+mn-lt"/>
              </a:rPr>
              <a:t>, </a:t>
            </a:r>
            <a:r>
              <a:rPr lang="en-US" sz="1200" b="0" i="1">
                <a:solidFill>
                  <a:schemeClr val="bg1"/>
                </a:solidFill>
                <a:ea typeface="+mn-lt"/>
                <a:cs typeface="+mn-lt"/>
              </a:rPr>
              <a:t>13</a:t>
            </a:r>
            <a:r>
              <a:rPr lang="en-US" sz="1200" b="0">
                <a:solidFill>
                  <a:schemeClr val="bg1"/>
                </a:solidFill>
                <a:ea typeface="+mn-lt"/>
                <a:cs typeface="+mn-lt"/>
              </a:rPr>
              <a:t>(1). </a:t>
            </a:r>
            <a:r>
              <a:rPr lang="en-US" sz="1200" b="0">
                <a:solidFill>
                  <a:schemeClr val="bg1"/>
                </a:solidFill>
                <a:ea typeface="+mn-lt"/>
                <a:cs typeface="+mn-lt"/>
                <a:hlinkClick r:id="rId5">
                  <a:extLst>
                    <a:ext uri="{A12FA001-AC4F-418D-AE19-62706E023703}">
                      <ahyp:hlinkClr xmlns:ahyp="http://schemas.microsoft.com/office/drawing/2018/hyperlinkcolor" val="tx"/>
                    </a:ext>
                  </a:extLst>
                </a:hlinkClick>
              </a:rPr>
              <a:t>https://</a:t>
            </a:r>
            <a:r>
              <a:rPr lang="en-US" sz="1200" b="0" err="1">
                <a:solidFill>
                  <a:schemeClr val="bg1"/>
                </a:solidFill>
                <a:ea typeface="+mn-lt"/>
                <a:cs typeface="+mn-lt"/>
                <a:hlinkClick r:id="rId5">
                  <a:extLst>
                    <a:ext uri="{A12FA001-AC4F-418D-AE19-62706E023703}">
                      <ahyp:hlinkClr xmlns:ahyp="http://schemas.microsoft.com/office/drawing/2018/hyperlinkcolor" val="tx"/>
                    </a:ext>
                  </a:extLst>
                </a:hlinkClick>
              </a:rPr>
              <a:t>doi.org</a:t>
            </a:r>
            <a:r>
              <a:rPr lang="en-US" sz="1200" b="0">
                <a:solidFill>
                  <a:schemeClr val="bg1"/>
                </a:solidFill>
                <a:ea typeface="+mn-lt"/>
                <a:cs typeface="+mn-lt"/>
                <a:hlinkClick r:id="rId5">
                  <a:extLst>
                    <a:ext uri="{A12FA001-AC4F-418D-AE19-62706E023703}">
                      <ahyp:hlinkClr xmlns:ahyp="http://schemas.microsoft.com/office/drawing/2018/hyperlinkcolor" val="tx"/>
                    </a:ext>
                  </a:extLst>
                </a:hlinkClick>
              </a:rPr>
              <a:t>/10.1186/s13104-020-05199-8</a:t>
            </a:r>
            <a:endParaRPr lang="en-US" sz="1200" b="0">
              <a:solidFill>
                <a:schemeClr val="bg1"/>
              </a:solidFill>
              <a:cs typeface="Times New Roman"/>
            </a:endParaRPr>
          </a:p>
          <a:p>
            <a:pPr marL="283210" indent="-283210"/>
            <a:r>
              <a:rPr lang="en-US" sz="1200" b="0">
                <a:solidFill>
                  <a:schemeClr val="bg1"/>
                </a:solidFill>
                <a:ea typeface="+mn-lt"/>
                <a:cs typeface="+mn-lt"/>
              </a:rPr>
              <a:t>‌</a:t>
            </a:r>
            <a:r>
              <a:rPr lang="en-US" sz="1200" b="0" i="1">
                <a:solidFill>
                  <a:schemeClr val="bg1"/>
                </a:solidFill>
                <a:latin typeface="Times New Roman"/>
                <a:ea typeface="+mn-lt"/>
                <a:cs typeface="Times New Roman"/>
              </a:rPr>
              <a:t>Teleradiology Services</a:t>
            </a:r>
            <a:r>
              <a:rPr lang="en-US" sz="1200" b="0">
                <a:solidFill>
                  <a:schemeClr val="bg1"/>
                </a:solidFill>
                <a:latin typeface="Times New Roman"/>
                <a:ea typeface="+mn-lt"/>
                <a:cs typeface="Times New Roman"/>
              </a:rPr>
              <a:t>. (n.d.). </a:t>
            </a:r>
            <a:r>
              <a:rPr lang="en-US" sz="1200" b="0" err="1">
                <a:solidFill>
                  <a:schemeClr val="bg1"/>
                </a:solidFill>
                <a:latin typeface="Times New Roman"/>
                <a:ea typeface="+mn-lt"/>
                <a:cs typeface="Times New Roman"/>
              </a:rPr>
              <a:t>NightHawk</a:t>
            </a:r>
            <a:r>
              <a:rPr lang="en-US" sz="1200" b="0">
                <a:solidFill>
                  <a:schemeClr val="bg1"/>
                </a:solidFill>
                <a:latin typeface="Times New Roman"/>
                <a:ea typeface="+mn-lt"/>
                <a:cs typeface="Times New Roman"/>
              </a:rPr>
              <a:t> Radiology. Retrieved February 26, 2024, from </a:t>
            </a:r>
            <a:r>
              <a:rPr lang="en-US" sz="1200" b="0">
                <a:solidFill>
                  <a:schemeClr val="bg1"/>
                </a:solidFill>
                <a:latin typeface="Times New Roman"/>
                <a:ea typeface="+mn-lt"/>
                <a:cs typeface="Times New Roman"/>
                <a:hlinkClick r:id="rId6">
                  <a:extLst>
                    <a:ext uri="{A12FA001-AC4F-418D-AE19-62706E023703}">
                      <ahyp:hlinkClr xmlns:ahyp="http://schemas.microsoft.com/office/drawing/2018/hyperlinkcolor" val="tx"/>
                    </a:ext>
                  </a:extLst>
                </a:hlinkClick>
              </a:rPr>
              <a:t>https://www.nighthawkradiology.com/teleradiology-services/</a:t>
            </a:r>
            <a:endParaRPr lang="en-US">
              <a:solidFill>
                <a:schemeClr val="bg1"/>
              </a:solidFill>
              <a:ea typeface="+mn-lt"/>
              <a:cs typeface="+mn-lt"/>
            </a:endParaRPr>
          </a:p>
          <a:p>
            <a:pPr marL="283210" indent="-283210"/>
            <a:r>
              <a:rPr lang="en-US" sz="1200" b="0" i="1">
                <a:solidFill>
                  <a:schemeClr val="bg1"/>
                </a:solidFill>
                <a:latin typeface="Times New Roman"/>
                <a:cs typeface="Times New Roman"/>
              </a:rPr>
              <a:t>Infinity Teleradiology | Concierge Radiology Services</a:t>
            </a:r>
            <a:r>
              <a:rPr lang="en-US" sz="1200" b="0">
                <a:solidFill>
                  <a:schemeClr val="bg1"/>
                </a:solidFill>
                <a:latin typeface="Times New Roman"/>
                <a:cs typeface="Times New Roman"/>
              </a:rPr>
              <a:t>. (n.d.). </a:t>
            </a:r>
            <a:r>
              <a:rPr lang="en-US" sz="1200" b="0">
                <a:solidFill>
                  <a:schemeClr val="bg1"/>
                </a:solidFill>
                <a:latin typeface="Times New Roman"/>
                <a:cs typeface="Times New Roman"/>
                <a:hlinkClick r:id="rId7">
                  <a:extLst>
                    <a:ext uri="{A12FA001-AC4F-418D-AE19-62706E023703}">
                      <ahyp:hlinkClr xmlns:ahyp="http://schemas.microsoft.com/office/drawing/2018/hyperlinkcolor" val="tx"/>
                    </a:ext>
                  </a:extLst>
                </a:hlinkClick>
              </a:rPr>
              <a:t>Www.infinityteleradiology.com</a:t>
            </a:r>
            <a:r>
              <a:rPr lang="en-US" sz="1200" b="0">
                <a:solidFill>
                  <a:schemeClr val="bg1"/>
                </a:solidFill>
                <a:latin typeface="Times New Roman"/>
                <a:cs typeface="Times New Roman"/>
              </a:rPr>
              <a:t>. Retrieved February 26, 2024, from </a:t>
            </a:r>
            <a:r>
              <a:rPr lang="en-US" sz="1200" b="0">
                <a:solidFill>
                  <a:schemeClr val="bg1"/>
                </a:solidFill>
                <a:latin typeface="Times New Roman"/>
                <a:cs typeface="Times New Roman"/>
                <a:hlinkClick r:id="rId8">
                  <a:extLst>
                    <a:ext uri="{A12FA001-AC4F-418D-AE19-62706E023703}">
                      <ahyp:hlinkClr xmlns:ahyp="http://schemas.microsoft.com/office/drawing/2018/hyperlinkcolor" val="tx"/>
                    </a:ext>
                  </a:extLst>
                </a:hlinkClick>
              </a:rPr>
              <a:t>https://www.infinityteleradiology.com/services</a:t>
            </a:r>
            <a:endParaRPr lang="en-US" sz="1200" b="0">
              <a:solidFill>
                <a:schemeClr val="bg1"/>
              </a:solidFill>
              <a:latin typeface="Times New Roman"/>
              <a:cs typeface="Times New Roman"/>
            </a:endParaRPr>
          </a:p>
          <a:p>
            <a:pPr marL="283210" indent="-283210"/>
            <a:r>
              <a:rPr lang="en-US" sz="1200" b="0">
                <a:solidFill>
                  <a:srgbClr val="0D0D0D"/>
                </a:solidFill>
                <a:ea typeface="+mn-lt"/>
                <a:cs typeface="+mn-lt"/>
              </a:rPr>
              <a:t>"American College of Radiology (ACR) Practice Parameter for Teleradiology" - This document provides guidelines and recommendations for the practice of teleradiology, including considerations for privacy and cybersecurity.</a:t>
            </a:r>
            <a:endParaRPr lang="en-US" sz="1200" b="0">
              <a:solidFill>
                <a:schemeClr val="bg1"/>
              </a:solidFill>
              <a:latin typeface="Times New Roman"/>
              <a:cs typeface="Times New Roman"/>
            </a:endParaRPr>
          </a:p>
          <a:p>
            <a:pPr marL="283210" indent="-283210"/>
            <a:r>
              <a:rPr lang="en-US" sz="1200" b="0">
                <a:solidFill>
                  <a:srgbClr val="0D0D0D"/>
                </a:solidFill>
                <a:ea typeface="+mn-lt"/>
                <a:cs typeface="+mn-lt"/>
              </a:rPr>
              <a:t>"HealthIT.gov: Security Risk Assessment Tool" - HealthIT.gov offers various resources and tools for healthcare organizations to assess and improve their cybersecurity posture, including guidance on conducting security risk assessments.</a:t>
            </a:r>
            <a:endParaRPr lang="en-US"/>
          </a:p>
          <a:p>
            <a:pPr marL="283210" indent="-283210"/>
            <a:r>
              <a:rPr lang="en-US" sz="1200" b="0">
                <a:solidFill>
                  <a:srgbClr val="0D0D0D"/>
                </a:solidFill>
                <a:ea typeface="+mn-lt"/>
                <a:cs typeface="+mn-lt"/>
              </a:rPr>
              <a:t>"Health Insurance Portability and Accountability Act (HIPAA)" - You can refer to the official website of the U.S. Department of Health &amp; Human Services for comprehensive information about HIPAA regulations and requirements for safeguarding protected health information (PHI).</a:t>
            </a:r>
            <a:endParaRPr lang="en-US"/>
          </a:p>
          <a:p>
            <a:pPr marL="283210" indent="-283210"/>
            <a:r>
              <a:rPr lang="en-US" sz="1200" b="0">
                <a:solidFill>
                  <a:srgbClr val="0D0D0D"/>
                </a:solidFill>
                <a:ea typeface="+mn-lt"/>
                <a:cs typeface="+mn-lt"/>
              </a:rPr>
              <a:t>"General Data Protection Regulation (GDPR)" - The official website of the European Commission provides detailed information about the GDPR, including its provisions related to data protection in healthcare settings.</a:t>
            </a:r>
            <a:endParaRPr lang="en-US"/>
          </a:p>
          <a:p>
            <a:pPr marL="283210" indent="-283210"/>
            <a:r>
              <a:rPr lang="en-US" sz="1200" b="0">
                <a:solidFill>
                  <a:srgbClr val="0D0D0D"/>
                </a:solidFill>
                <a:ea typeface="+mn-lt"/>
                <a:cs typeface="+mn-lt"/>
              </a:rPr>
              <a:t>Relevant academic articles and research papers - Look for scholarly articles and research papers on privacy and cybersecurity in teleradiology from reputable journals such as the Journal of the American College of Radiology (JACR) or the Journal of Digital Imaging.</a:t>
            </a:r>
            <a:endParaRPr lang="en-US"/>
          </a:p>
          <a:p>
            <a:pPr marL="283210" indent="-283210"/>
            <a:endParaRPr lang="en-US" sz="1200" b="0">
              <a:solidFill>
                <a:schemeClr val="bg1"/>
              </a:solidFill>
              <a:latin typeface="Times New Roman"/>
              <a:cs typeface="Times New Roman"/>
            </a:endParaRPr>
          </a:p>
          <a:p>
            <a:pPr marL="283210" indent="-283210"/>
            <a:endParaRPr lang="en-US" sz="1200" b="0">
              <a:solidFill>
                <a:schemeClr val="bg1"/>
              </a:solidFill>
              <a:latin typeface="Times New Roman"/>
              <a:cs typeface="Times New Roman"/>
            </a:endParaRPr>
          </a:p>
          <a:p>
            <a:pPr marL="283210" indent="-283210"/>
            <a:endParaRPr lang="en-US" sz="1200" b="0">
              <a:solidFill>
                <a:srgbClr val="000000"/>
              </a:solidFill>
              <a:cs typeface="Times New Roman"/>
            </a:endParaRPr>
          </a:p>
          <a:p>
            <a:pPr marL="283210" indent="-283210"/>
            <a:endParaRPr lang="en-US" sz="1200" b="0">
              <a:solidFill>
                <a:srgbClr val="000000"/>
              </a:solidFill>
              <a:cs typeface="Times New Roman"/>
            </a:endParaRPr>
          </a:p>
          <a:p>
            <a:pPr marL="283210" indent="-283210"/>
            <a:endParaRPr lang="en-US"/>
          </a:p>
        </p:txBody>
      </p:sp>
    </p:spTree>
    <p:extLst>
      <p:ext uri="{BB962C8B-B14F-4D97-AF65-F5344CB8AC3E}">
        <p14:creationId xmlns:p14="http://schemas.microsoft.com/office/powerpoint/2010/main" val="259355776"/>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30F73205189284FBD4978BB8365D1F2" ma:contentTypeVersion="7" ma:contentTypeDescription="Create a new document." ma:contentTypeScope="" ma:versionID="cbc1628c3000870abfa4a1a530fa33c1">
  <xsd:schema xmlns:xsd="http://www.w3.org/2001/XMLSchema" xmlns:xs="http://www.w3.org/2001/XMLSchema" xmlns:p="http://schemas.microsoft.com/office/2006/metadata/properties" xmlns:ns3="2c81b84c-03d7-45dc-90f4-7781be9b9f12" xmlns:ns4="80b30c9e-cd7a-4151-b800-ac8a28b651b8" targetNamespace="http://schemas.microsoft.com/office/2006/metadata/properties" ma:root="true" ma:fieldsID="a177b7959533bae59e227d1cae93fc5e" ns3:_="" ns4:_="">
    <xsd:import namespace="2c81b84c-03d7-45dc-90f4-7781be9b9f12"/>
    <xsd:import namespace="80b30c9e-cd7a-4151-b800-ac8a28b651b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81b84c-03d7-45dc-90f4-7781be9b9f1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b30c9e-cd7a-4151-b800-ac8a28b651b8"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2c81b84c-03d7-45dc-90f4-7781be9b9f12"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E40F7F3D-86E6-468F-9BB3-4C60C8595F5D}">
  <ds:schemaRefs>
    <ds:schemaRef ds:uri="2c81b84c-03d7-45dc-90f4-7781be9b9f12"/>
    <ds:schemaRef ds:uri="80b30c9e-cd7a-4151-b800-ac8a28b651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4F4B194E-8B30-4377-8C59-ECFB902D2A26}">
  <ds:schemaRefs>
    <ds:schemaRef ds:uri="http://schemas.openxmlformats.org/package/2006/metadata/core-propertie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terms/"/>
    <ds:schemaRef ds:uri="80b30c9e-cd7a-4151-b800-ac8a28b651b8"/>
    <ds:schemaRef ds:uri="2c81b84c-03d7-45dc-90f4-7781be9b9f12"/>
    <ds:schemaRef ds:uri="http://www.w3.org/XML/1998/namespace"/>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{B79608BE-BC86-4EDC-AD39-322C9B939706}tf78853419_win32</Template>
  <TotalTime>0</TotalTime>
  <Words>3303</Words>
  <Application>Microsoft Office PowerPoint</Application>
  <PresentationFormat>Widescreen</PresentationFormat>
  <Paragraphs>263</Paragraphs>
  <Slides>24</Slides>
  <Notes>14</Notes>
  <HiddenSlides>0</HiddenSlides>
  <MMClips>15</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Custom</vt:lpstr>
      <vt:lpstr>Teleradiology </vt:lpstr>
      <vt:lpstr>Table of Contents </vt:lpstr>
      <vt:lpstr>Introduction</vt:lpstr>
      <vt:lpstr>Triple/Quadruple Aims </vt:lpstr>
      <vt:lpstr>Example of Teleradiology Workflow </vt:lpstr>
      <vt:lpstr>Case Study #1</vt:lpstr>
      <vt:lpstr>Case Study #2</vt:lpstr>
      <vt:lpstr>Case Study #3 </vt:lpstr>
      <vt:lpstr>Teleradiology Company #1</vt:lpstr>
      <vt:lpstr>Teleradiology Company #2</vt:lpstr>
      <vt:lpstr>Differences within each Teleradiology Company</vt:lpstr>
      <vt:lpstr>Why We Chose Infinity Teleradiology</vt:lpstr>
      <vt:lpstr>Financial Evaluation</vt:lpstr>
      <vt:lpstr>Financial Evaluation</vt:lpstr>
      <vt:lpstr>Financial Evaluation</vt:lpstr>
      <vt:lpstr>Privacy and Cybersecurity in Teleradiology</vt:lpstr>
      <vt:lpstr>Protecting Patient Data</vt:lpstr>
      <vt:lpstr>Ensuring Security and Trust</vt:lpstr>
      <vt:lpstr>Usability Factors in Teleradiology</vt:lpstr>
      <vt:lpstr>User-Centered Design and Continuous Improvement</vt:lpstr>
      <vt:lpstr>Outcomes Measured  </vt:lpstr>
      <vt:lpstr>Outcomes Measured  </vt:lpstr>
      <vt:lpstr>Conclusion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Teleradiology </dc:title>
  <dc:creator>Gian Galarza</dc:creator>
  <cp:lastModifiedBy>Gian Galarza</cp:lastModifiedBy>
  <cp:revision>5</cp:revision>
  <dcterms:created xsi:type="dcterms:W3CDTF">2024-02-21T18:21:36Z</dcterms:created>
  <dcterms:modified xsi:type="dcterms:W3CDTF">2026-09-26T20:31:14Z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0x010100B30F73205189284FBD4978BB8365D1F2</vt:lpwstr>
  </property>
</Properties>
</file>